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embeddedFontLst>
    <p:embeddedFont>
      <p:font typeface="Inter SemiBold"/>
      <p:regular r:id="rId16"/>
      <p:bold r:id="rId17"/>
      <p:italic r:id="rId18"/>
      <p:boldItalic r:id="rId19"/>
    </p:embeddedFont>
    <p:embeddedFont>
      <p:font typeface="Inter"/>
      <p:bold r:id="rId20"/>
      <p:boldItalic r:id="rId21"/>
    </p:embeddedFont>
    <p:embeddedFont>
      <p:font typeface="Inter ExtraBold"/>
      <p:bold r:id="rId22"/>
      <p:boldItalic r:id="rId23"/>
    </p:embeddedFont>
    <p:embeddedFont>
      <p:font typeface="Inter Medium"/>
      <p:regular r:id="rId24"/>
      <p:bold r:id="rId25"/>
      <p:italic r:id="rId26"/>
      <p:boldItalic r:id="rId27"/>
    </p:embeddedFont>
    <p:embeddedFont>
      <p:font typeface="Inter Black"/>
      <p:bold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font" Target="fonts/InterSemiBold-regular.fntdata"/><Relationship Id="rId17" Type="http://schemas.openxmlformats.org/officeDocument/2006/relationships/font" Target="fonts/InterSemiBold-bold.fntdata"/><Relationship Id="rId18" Type="http://schemas.openxmlformats.org/officeDocument/2006/relationships/font" Target="fonts/InterSemiBold-italic.fntdata"/><Relationship Id="rId19" Type="http://schemas.openxmlformats.org/officeDocument/2006/relationships/font" Target="fonts/InterSemiBold-boldItalic.fntdata"/><Relationship Id="rId20" Type="http://schemas.openxmlformats.org/officeDocument/2006/relationships/font" Target="fonts/Inter-bold.fntdata"/><Relationship Id="rId21" Type="http://schemas.openxmlformats.org/officeDocument/2006/relationships/font" Target="fonts/Inter-boldItalic.fntdata"/><Relationship Id="rId22" Type="http://schemas.openxmlformats.org/officeDocument/2006/relationships/font" Target="fonts/InterExtraBold-bold.fntdata"/><Relationship Id="rId23" Type="http://schemas.openxmlformats.org/officeDocument/2006/relationships/font" Target="fonts/InterExtraBold-boldItalic.fntdata"/><Relationship Id="rId24" Type="http://schemas.openxmlformats.org/officeDocument/2006/relationships/font" Target="fonts/InterMedium-regular.fntdata"/><Relationship Id="rId25" Type="http://schemas.openxmlformats.org/officeDocument/2006/relationships/font" Target="fonts/InterMedium-bold.fntdata"/><Relationship Id="rId26" Type="http://schemas.openxmlformats.org/officeDocument/2006/relationships/font" Target="fonts/InterMedium-italic.fntdata"/><Relationship Id="rId27" Type="http://schemas.openxmlformats.org/officeDocument/2006/relationships/font" Target="fonts/InterMedium-boldItalic.fntdata"/><Relationship Id="rId28" Type="http://schemas.openxmlformats.org/officeDocument/2006/relationships/font" Target="fonts/InterBlack-bold.fntdata"/><Relationship Id="rId29" Type="http://schemas.openxmlformats.org/officeDocument/2006/relationships/font" Target="fonts/InterBlack-boldItalic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h41eb4952c5936352_14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h41eb4952c5936352_14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h41eb4952c5936352_13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h41eb4952c5936352_1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h41eb4952c5936352_1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h41eb4952c5936352_1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h41eb4952c5936352_1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h41eb4952c5936352_1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h41eb4952c5936352_10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9" name="Google Shape;259;h41eb4952c5936352_1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h41eb4952c5936352_9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7" name="Google Shape;317;h41eb4952c5936352_9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h41eb4952c5936352_8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9" name="Google Shape;349;h41eb4952c5936352_8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h41eb4952c5936352_7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8" name="Google Shape;398;h41eb4952c5936352_7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h41eb4952c5936352_6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6" name="Google Shape;446;h41eb4952c5936352_6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h41eb4952c5936352_5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7" name="Google Shape;497;h41eb4952c5936352_5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h41eb4952c5936352_4_0)">
  <p:cSld name="Generated (h41eb4952c5936352_4_0)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2" name="Google Shape;12;p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3" name="Google Shape;13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6" name="Google Shape;16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3" name="Google Shape;23;p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" name="Google Shape;2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1" name="Google Shape;31;p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5" name="Google Shape;35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1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9" name="Google Shape;39;p1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0" name="Google Shape;40;p1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1" name="Google Shape;41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1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4" name="Google Shape;44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2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7" name="Google Shape;47;p12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8" name="Google Shape;48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Relationship Id="rId4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png"/><Relationship Id="rId4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Relationship Id="rId4" Type="http://schemas.openxmlformats.org/officeDocument/2006/relationships/image" Target="../media/image5.png"/><Relationship Id="rId5" Type="http://schemas.openxmlformats.org/officeDocument/2006/relationships/image" Target="../media/image14.png"/><Relationship Id="rId6" Type="http://schemas.openxmlformats.org/officeDocument/2006/relationships/image" Target="../media/image11.png"/><Relationship Id="rId7" Type="http://schemas.openxmlformats.org/officeDocument/2006/relationships/image" Target="../media/image16.png"/><Relationship Id="rId8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/>
        </p:nvSpPr>
        <p:spPr>
          <a:xfrm>
            <a:off x="457200" y="285750"/>
            <a:ext cx="7620000" cy="762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>
                <a:solidFill>
                  <a:srgbClr val="7C3AED"/>
                </a:solidFill>
                <a:latin typeface="Inter"/>
                <a:ea typeface="Inter"/>
                <a:cs typeface="Inter"/>
                <a:sym typeface="Inter"/>
              </a:rPr>
              <a:t>AUTONOMOUS TECHNICAL RECRUITER</a:t>
            </a:r>
            <a:endParaRPr b="1" i="0" sz="800">
              <a:solidFill>
                <a:srgbClr val="7C3AED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" sz="22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TalentScout AI: Meet Lili</a:t>
            </a:r>
            <a:endParaRPr b="1" i="0" sz="800">
              <a:solidFill>
                <a:srgbClr val="7C3AED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" sz="1100">
                <a:solidFill>
                  <a:srgbClr val="4B5563"/>
                </a:solidFill>
                <a:latin typeface="Inter Medium"/>
                <a:ea typeface="Inter Medium"/>
                <a:cs typeface="Inter Medium"/>
                <a:sym typeface="Inter Medium"/>
              </a:rPr>
              <a:t>An AI agent that screens applicants, explains scores, and emails candidates for SMEs</a:t>
            </a:r>
            <a:endParaRPr b="1" i="0" sz="800">
              <a:solidFill>
                <a:srgbClr val="7C3AED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56" name="Google Shape;56;p14"/>
          <p:cNvGrpSpPr/>
          <p:nvPr/>
        </p:nvGrpSpPr>
        <p:grpSpPr>
          <a:xfrm>
            <a:off x="8420100" y="304800"/>
            <a:ext cx="266700" cy="266700"/>
            <a:chOff x="0" y="0"/>
            <a:chExt cx="266700" cy="266700"/>
          </a:xfrm>
        </p:grpSpPr>
        <p:sp>
          <p:nvSpPr>
            <p:cNvPr id="57" name="Google Shape;57;p14"/>
            <p:cNvSpPr/>
            <p:nvPr/>
          </p:nvSpPr>
          <p:spPr>
            <a:xfrm>
              <a:off x="0" y="0"/>
              <a:ext cx="266700" cy="266700"/>
            </a:xfrm>
            <a:prstGeom prst="roundRect">
              <a:avLst>
                <a:gd fmla="val 28571" name="adj"/>
              </a:avLst>
            </a:prstGeom>
            <a:solidFill>
              <a:srgbClr val="7C3AED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14"/>
            <p:cNvSpPr/>
            <p:nvPr/>
          </p:nvSpPr>
          <p:spPr>
            <a:xfrm>
              <a:off x="85725" y="76200"/>
              <a:ext cx="85800" cy="10470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0" y="120000"/>
                  </a:lnTo>
                  <a:lnTo>
                    <a:pt x="120000" y="12000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cap="rnd" cmpd="sng" w="238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14"/>
            <p:cNvSpPr/>
            <p:nvPr/>
          </p:nvSpPr>
          <p:spPr>
            <a:xfrm>
              <a:off x="142875" y="57150"/>
              <a:ext cx="28500" cy="285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60" name="Google Shape;60;p14"/>
          <p:cNvCxnSpPr/>
          <p:nvPr/>
        </p:nvCxnSpPr>
        <p:spPr>
          <a:xfrm>
            <a:off x="457200" y="1143000"/>
            <a:ext cx="8229600" cy="0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F3F4F6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61" name="Google Shape;61;p14"/>
          <p:cNvGrpSpPr/>
          <p:nvPr/>
        </p:nvGrpSpPr>
        <p:grpSpPr>
          <a:xfrm>
            <a:off x="457200" y="1257300"/>
            <a:ext cx="3467100" cy="3124350"/>
            <a:chOff x="0" y="0"/>
            <a:chExt cx="3467100" cy="3124350"/>
          </a:xfrm>
        </p:grpSpPr>
        <p:grpSp>
          <p:nvGrpSpPr>
            <p:cNvPr id="62" name="Google Shape;62;p14"/>
            <p:cNvGrpSpPr/>
            <p:nvPr/>
          </p:nvGrpSpPr>
          <p:grpSpPr>
            <a:xfrm>
              <a:off x="0" y="0"/>
              <a:ext cx="3467100" cy="571500"/>
              <a:chOff x="0" y="0"/>
              <a:chExt cx="3467100" cy="571500"/>
            </a:xfrm>
          </p:grpSpPr>
          <p:sp>
            <p:nvSpPr>
              <p:cNvPr id="63" name="Google Shape;63;p14"/>
              <p:cNvSpPr/>
              <p:nvPr/>
            </p:nvSpPr>
            <p:spPr>
              <a:xfrm>
                <a:off x="0" y="0"/>
                <a:ext cx="342900" cy="342900"/>
              </a:xfrm>
              <a:prstGeom prst="ellipse">
                <a:avLst/>
              </a:prstGeom>
              <a:solidFill>
                <a:srgbClr val="F3E8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" name="Google Shape;64;p14"/>
              <p:cNvSpPr txBox="1"/>
              <p:nvPr/>
            </p:nvSpPr>
            <p:spPr>
              <a:xfrm>
                <a:off x="0" y="20447"/>
                <a:ext cx="342900" cy="34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400">
                    <a:solidFill>
                      <a:srgbClr val="7C3AED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auto_awesome</a:t>
                </a:r>
                <a:endParaRPr sz="1400">
                  <a:solidFill>
                    <a:srgbClr val="7C3AED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  <p:sp>
            <p:nvSpPr>
              <p:cNvPr id="65" name="Google Shape;65;p14"/>
              <p:cNvSpPr txBox="1"/>
              <p:nvPr/>
            </p:nvSpPr>
            <p:spPr>
              <a:xfrm>
                <a:off x="457200" y="0"/>
                <a:ext cx="3009900" cy="57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050">
                    <a:solidFill>
                      <a:srgbClr val="0F172A"/>
                    </a:solidFill>
                    <a:latin typeface="Inter"/>
                    <a:ea typeface="Inter"/>
                    <a:cs typeface="Inter"/>
                    <a:sym typeface="Inter"/>
                  </a:rPr>
                  <a:t>100% Applicant Screening</a:t>
                </a:r>
                <a:endParaRPr b="1" sz="105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200"/>
                  </a:spcBef>
                  <a:spcAft>
                    <a:spcPts val="0"/>
                  </a:spcAft>
                  <a:buNone/>
                </a:pPr>
                <a:r>
                  <a:rPr b="0" lang="en" sz="850">
                    <a:solidFill>
                      <a:srgbClr val="64748B"/>
                    </a:solidFill>
                    <a:latin typeface="Inter"/>
                    <a:ea typeface="Inter"/>
                    <a:cs typeface="Inter"/>
                    <a:sym typeface="Inter"/>
                  </a:rPr>
                  <a:t>Instantly evaluates every resume against technical role requirements without manual labor.</a:t>
                </a:r>
                <a:endParaRPr b="0" sz="85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66" name="Google Shape;66;p14"/>
            <p:cNvGrpSpPr/>
            <p:nvPr/>
          </p:nvGrpSpPr>
          <p:grpSpPr>
            <a:xfrm>
              <a:off x="0" y="704850"/>
              <a:ext cx="3467100" cy="571500"/>
              <a:chOff x="0" y="0"/>
              <a:chExt cx="3467100" cy="571500"/>
            </a:xfrm>
          </p:grpSpPr>
          <p:sp>
            <p:nvSpPr>
              <p:cNvPr id="67" name="Google Shape;67;p14"/>
              <p:cNvSpPr/>
              <p:nvPr/>
            </p:nvSpPr>
            <p:spPr>
              <a:xfrm>
                <a:off x="0" y="0"/>
                <a:ext cx="342900" cy="342900"/>
              </a:xfrm>
              <a:prstGeom prst="ellipse">
                <a:avLst/>
              </a:prstGeom>
              <a:solidFill>
                <a:srgbClr val="F3E8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" name="Google Shape;68;p14"/>
              <p:cNvSpPr txBox="1"/>
              <p:nvPr/>
            </p:nvSpPr>
            <p:spPr>
              <a:xfrm>
                <a:off x="0" y="20447"/>
                <a:ext cx="342900" cy="34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400">
                    <a:solidFill>
                      <a:srgbClr val="7C3AED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fact_check</a:t>
                </a:r>
                <a:endParaRPr sz="1400">
                  <a:solidFill>
                    <a:srgbClr val="7C3AED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  <p:sp>
            <p:nvSpPr>
              <p:cNvPr id="69" name="Google Shape;69;p14"/>
              <p:cNvSpPr txBox="1"/>
              <p:nvPr/>
            </p:nvSpPr>
            <p:spPr>
              <a:xfrm>
                <a:off x="457200" y="0"/>
                <a:ext cx="3009900" cy="57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050">
                    <a:solidFill>
                      <a:srgbClr val="0F172A"/>
                    </a:solidFill>
                    <a:latin typeface="Inter"/>
                    <a:ea typeface="Inter"/>
                    <a:cs typeface="Inter"/>
                    <a:sym typeface="Inter"/>
                  </a:rPr>
                  <a:t>Explainable AI Scoring</a:t>
                </a:r>
                <a:endParaRPr b="1" sz="105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200"/>
                  </a:spcBef>
                  <a:spcAft>
                    <a:spcPts val="0"/>
                  </a:spcAft>
                  <a:buNone/>
                </a:pPr>
                <a:r>
                  <a:rPr b="0" lang="en" sz="850">
                    <a:solidFill>
                      <a:srgbClr val="64748B"/>
                    </a:solidFill>
                    <a:latin typeface="Inter"/>
                    <a:ea typeface="Inter"/>
                    <a:cs typeface="Inter"/>
                    <a:sym typeface="Inter"/>
                  </a:rPr>
                  <a:t>Transparent ratings grounded directly in candidate evidence and verifiable skill metrics.</a:t>
                </a:r>
                <a:endParaRPr b="0" sz="85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70" name="Google Shape;70;p14"/>
            <p:cNvGrpSpPr/>
            <p:nvPr/>
          </p:nvGrpSpPr>
          <p:grpSpPr>
            <a:xfrm>
              <a:off x="0" y="1409700"/>
              <a:ext cx="3467100" cy="571500"/>
              <a:chOff x="0" y="0"/>
              <a:chExt cx="3467100" cy="571500"/>
            </a:xfrm>
          </p:grpSpPr>
          <p:sp>
            <p:nvSpPr>
              <p:cNvPr id="71" name="Google Shape;71;p14"/>
              <p:cNvSpPr/>
              <p:nvPr/>
            </p:nvSpPr>
            <p:spPr>
              <a:xfrm>
                <a:off x="0" y="0"/>
                <a:ext cx="342900" cy="342900"/>
              </a:xfrm>
              <a:prstGeom prst="ellipse">
                <a:avLst/>
              </a:prstGeom>
              <a:solidFill>
                <a:srgbClr val="F3E8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" name="Google Shape;72;p14"/>
              <p:cNvSpPr txBox="1"/>
              <p:nvPr/>
            </p:nvSpPr>
            <p:spPr>
              <a:xfrm>
                <a:off x="0" y="20447"/>
                <a:ext cx="342900" cy="34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400">
                    <a:solidFill>
                      <a:srgbClr val="7C3AED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mark_email_read</a:t>
                </a:r>
                <a:endParaRPr sz="1400">
                  <a:solidFill>
                    <a:srgbClr val="7C3AED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  <p:sp>
            <p:nvSpPr>
              <p:cNvPr id="73" name="Google Shape;73;p14"/>
              <p:cNvSpPr txBox="1"/>
              <p:nvPr/>
            </p:nvSpPr>
            <p:spPr>
              <a:xfrm>
                <a:off x="457200" y="0"/>
                <a:ext cx="3009900" cy="57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050">
                    <a:solidFill>
                      <a:srgbClr val="0F172A"/>
                    </a:solidFill>
                    <a:latin typeface="Inter"/>
                    <a:ea typeface="Inter"/>
                    <a:cs typeface="Inter"/>
                    <a:sym typeface="Inter"/>
                  </a:rPr>
                  <a:t>Automated Candidate Outreach</a:t>
                </a:r>
                <a:endParaRPr b="1" sz="105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200"/>
                  </a:spcBef>
                  <a:spcAft>
                    <a:spcPts val="0"/>
                  </a:spcAft>
                  <a:buNone/>
                </a:pPr>
                <a:r>
                  <a:rPr b="0" lang="en" sz="850">
                    <a:solidFill>
                      <a:srgbClr val="64748B"/>
                    </a:solidFill>
                    <a:latin typeface="Inter"/>
                    <a:ea typeface="Inter"/>
                    <a:cs typeface="Inter"/>
                    <a:sym typeface="Inter"/>
                  </a:rPr>
                  <a:t>Sends personal invites automatically; every rejection waits for one-click recruiter approval.</a:t>
                </a:r>
                <a:endParaRPr b="0" sz="85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74" name="Google Shape;74;p14"/>
            <p:cNvGrpSpPr/>
            <p:nvPr/>
          </p:nvGrpSpPr>
          <p:grpSpPr>
            <a:xfrm>
              <a:off x="0" y="2152650"/>
              <a:ext cx="3467100" cy="971700"/>
              <a:chOff x="0" y="0"/>
              <a:chExt cx="3467100" cy="971700"/>
            </a:xfrm>
          </p:grpSpPr>
          <p:sp>
            <p:nvSpPr>
              <p:cNvPr id="75" name="Google Shape;75;p14"/>
              <p:cNvSpPr/>
              <p:nvPr/>
            </p:nvSpPr>
            <p:spPr>
              <a:xfrm>
                <a:off x="0" y="0"/>
                <a:ext cx="3467100" cy="971700"/>
              </a:xfrm>
              <a:prstGeom prst="roundRect">
                <a:avLst>
                  <a:gd fmla="val 9803" name="adj"/>
                </a:avLst>
              </a:prstGeom>
              <a:solidFill>
                <a:srgbClr val="FAF5FF"/>
              </a:solidFill>
              <a:ln cap="flat" cmpd="sng" w="9525">
                <a:solidFill>
                  <a:srgbClr val="DDD6FE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" name="Google Shape;76;p14"/>
              <p:cNvSpPr/>
              <p:nvPr/>
            </p:nvSpPr>
            <p:spPr>
              <a:xfrm>
                <a:off x="0" y="0"/>
                <a:ext cx="38100" cy="971700"/>
              </a:xfrm>
              <a:prstGeom prst="roundRect">
                <a:avLst>
                  <a:gd fmla="val 50000" name="adj"/>
                </a:avLst>
              </a:prstGeom>
              <a:solidFill>
                <a:srgbClr val="7C3AED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" name="Google Shape;77;p14"/>
              <p:cNvSpPr txBox="1"/>
              <p:nvPr/>
            </p:nvSpPr>
            <p:spPr>
              <a:xfrm>
                <a:off x="171450" y="114300"/>
                <a:ext cx="3143400" cy="743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800">
                    <a:solidFill>
                      <a:srgbClr val="7C3AED"/>
                    </a:solidFill>
                    <a:latin typeface="Inter"/>
                    <a:ea typeface="Inter"/>
                    <a:cs typeface="Inter"/>
                    <a:sym typeface="Inter"/>
                  </a:rPr>
                  <a:t>BUILT FOR GROWING TEAMS</a:t>
                </a:r>
                <a:endParaRPr b="1" sz="800">
                  <a:solidFill>
                    <a:srgbClr val="7C3AED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250"/>
                  </a:spcBef>
                  <a:spcAft>
                    <a:spcPts val="0"/>
                  </a:spcAft>
                  <a:buNone/>
                </a:pPr>
                <a:r>
                  <a:rPr b="1" lang="en" sz="1050">
                    <a:solidFill>
                      <a:srgbClr val="0F172A"/>
                    </a:solidFill>
                    <a:latin typeface="Inter"/>
                    <a:ea typeface="Inter"/>
                    <a:cs typeface="Inter"/>
                    <a:sym typeface="Inter"/>
                  </a:rPr>
                  <a:t>$0 cost autonomous recruiter</a:t>
                </a:r>
                <a:endParaRPr b="1" sz="105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200"/>
                  </a:spcBef>
                  <a:spcAft>
                    <a:spcPts val="0"/>
                  </a:spcAft>
                  <a:buNone/>
                </a:pPr>
                <a:r>
                  <a:rPr b="0" lang="en" sz="850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rPr>
                  <a:t>Eliminates expensive ATS overhead while keeping high candidate engagement.</a:t>
                </a:r>
                <a:endParaRPr b="0" sz="8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78" name="Google Shape;78;p14"/>
          <p:cNvGrpSpPr/>
          <p:nvPr/>
        </p:nvGrpSpPr>
        <p:grpSpPr>
          <a:xfrm>
            <a:off x="457200" y="4648200"/>
            <a:ext cx="8229600" cy="304800"/>
            <a:chOff x="0" y="0"/>
            <a:chExt cx="8229600" cy="304800"/>
          </a:xfrm>
        </p:grpSpPr>
        <p:cxnSp>
          <p:nvCxnSpPr>
            <p:cNvPr id="79" name="Google Shape;79;p14"/>
            <p:cNvCxnSpPr/>
            <p:nvPr/>
          </p:nvCxnSpPr>
          <p:spPr>
            <a:xfrm>
              <a:off x="0" y="0"/>
              <a:ext cx="82296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E5E7EB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80" name="Google Shape;80;p14"/>
            <p:cNvSpPr txBox="1"/>
            <p:nvPr/>
          </p:nvSpPr>
          <p:spPr>
            <a:xfrm>
              <a:off x="0" y="114300"/>
              <a:ext cx="82296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850">
                  <a:solidFill>
                    <a:srgbClr val="6B7280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Agents at Work Hackathon · Laila Mohamed · lili-hr-agent.vercel.app</a:t>
              </a:r>
              <a:endParaRPr b="0" sz="850">
                <a:solidFill>
                  <a:srgbClr val="6B7280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  <p:sp>
        <p:nvSpPr>
          <p:cNvPr id="81" name="Google Shape;81;p14"/>
          <p:cNvSpPr/>
          <p:nvPr/>
        </p:nvSpPr>
        <p:spPr>
          <a:xfrm>
            <a:off x="4152900" y="1219200"/>
            <a:ext cx="4533900" cy="3200400"/>
          </a:xfrm>
          <a:prstGeom prst="roundRect">
            <a:avLst>
              <a:gd fmla="val 3571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2" name="Google Shape;82;p14"/>
          <p:cNvPicPr preferRelativeResize="0"/>
          <p:nvPr/>
        </p:nvPicPr>
        <p:blipFill rotWithShape="1">
          <a:blip r:embed="rId4">
            <a:alphaModFix/>
          </a:blip>
          <a:srcRect r="18781"/>
          <a:stretch/>
        </p:blipFill>
        <p:spPr>
          <a:xfrm>
            <a:off x="4229100" y="1295400"/>
            <a:ext cx="4381500" cy="304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7" name="Google Shape;87;p15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88" name="Google Shape;88;p15"/>
            <p:cNvSpPr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89" name="Google Shape;89;p15"/>
            <p:cNvGrpSpPr/>
            <p:nvPr/>
          </p:nvGrpSpPr>
          <p:grpSpPr>
            <a:xfrm>
              <a:off x="8458200" y="457200"/>
              <a:ext cx="228600" cy="228600"/>
              <a:chOff x="0" y="0"/>
              <a:chExt cx="228600" cy="228600"/>
            </a:xfrm>
          </p:grpSpPr>
          <p:sp>
            <p:nvSpPr>
              <p:cNvPr id="90" name="Google Shape;90;p15"/>
              <p:cNvSpPr/>
              <p:nvPr/>
            </p:nvSpPr>
            <p:spPr>
              <a:xfrm>
                <a:off x="0" y="0"/>
                <a:ext cx="228600" cy="228600"/>
              </a:xfrm>
              <a:prstGeom prst="roundRect">
                <a:avLst>
                  <a:gd fmla="val 25000" name="adj"/>
                </a:avLst>
              </a:prstGeom>
              <a:solidFill>
                <a:srgbClr val="7C3AED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" name="Google Shape;91;p15"/>
              <p:cNvSpPr/>
              <p:nvPr/>
            </p:nvSpPr>
            <p:spPr>
              <a:xfrm>
                <a:off x="76200" y="66675"/>
                <a:ext cx="76200" cy="95400"/>
              </a:xfrm>
              <a:custGeom>
                <a:rect b="b" l="l" r="r" t="t"/>
                <a:pathLst>
                  <a:path extrusionOk="0" h="120000" w="120000">
                    <a:moveTo>
                      <a:pt x="0" y="0"/>
                    </a:moveTo>
                    <a:lnTo>
                      <a:pt x="0" y="120000"/>
                    </a:lnTo>
                    <a:lnTo>
                      <a:pt x="120000" y="120000"/>
                    </a:lnTo>
                  </a:path>
                </a:pathLst>
              </a:custGeom>
              <a:solidFill>
                <a:srgbClr val="000000">
                  <a:alpha val="0"/>
                </a:srgbClr>
              </a:solidFill>
              <a:ln cap="rnd" cmpd="sng" w="23825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" name="Google Shape;92;p15"/>
              <p:cNvSpPr/>
              <p:nvPr/>
            </p:nvSpPr>
            <p:spPr>
              <a:xfrm>
                <a:off x="138113" y="147638"/>
                <a:ext cx="28500" cy="285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cxnSp>
          <p:nvCxnSpPr>
            <p:cNvPr id="93" name="Google Shape;93;p15"/>
            <p:cNvCxnSpPr/>
            <p:nvPr/>
          </p:nvCxnSpPr>
          <p:spPr>
            <a:xfrm>
              <a:off x="457200" y="1143000"/>
              <a:ext cx="82296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F3F4F6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94" name="Google Shape;94;p15"/>
          <p:cNvGrpSpPr/>
          <p:nvPr/>
        </p:nvGrpSpPr>
        <p:grpSpPr>
          <a:xfrm>
            <a:off x="457200" y="361950"/>
            <a:ext cx="7620000" cy="590700"/>
            <a:chOff x="0" y="0"/>
            <a:chExt cx="7620000" cy="590700"/>
          </a:xfrm>
        </p:grpSpPr>
        <p:sp>
          <p:nvSpPr>
            <p:cNvPr id="95" name="Google Shape;95;p15"/>
            <p:cNvSpPr txBox="1"/>
            <p:nvPr/>
          </p:nvSpPr>
          <p:spPr>
            <a:xfrm>
              <a:off x="0" y="0"/>
              <a:ext cx="7620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800">
                  <a:solidFill>
                    <a:srgbClr val="7C3AED"/>
                  </a:solidFill>
                  <a:latin typeface="Inter"/>
                  <a:ea typeface="Inter"/>
                  <a:cs typeface="Inter"/>
                  <a:sym typeface="Inter"/>
                </a:rPr>
                <a:t>TARGET PROFILE &amp; PAIN POINTS</a:t>
              </a:r>
              <a:endParaRPr b="1" sz="800">
                <a:solidFill>
                  <a:srgbClr val="7C3AED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96" name="Google Shape;96;p15"/>
            <p:cNvSpPr txBox="1"/>
            <p:nvPr/>
          </p:nvSpPr>
          <p:spPr>
            <a:xfrm>
              <a:off x="0" y="190500"/>
              <a:ext cx="76200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24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The SME We Built For</a:t>
              </a:r>
              <a:endParaRPr b="0" sz="24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</p:grpSp>
      <p:grpSp>
        <p:nvGrpSpPr>
          <p:cNvPr id="97" name="Google Shape;97;p15"/>
          <p:cNvGrpSpPr/>
          <p:nvPr/>
        </p:nvGrpSpPr>
        <p:grpSpPr>
          <a:xfrm>
            <a:off x="457200" y="1219200"/>
            <a:ext cx="3943200" cy="3467100"/>
            <a:chOff x="0" y="0"/>
            <a:chExt cx="3943200" cy="3467100"/>
          </a:xfrm>
        </p:grpSpPr>
        <p:sp>
          <p:nvSpPr>
            <p:cNvPr id="98" name="Google Shape;98;p15"/>
            <p:cNvSpPr/>
            <p:nvPr/>
          </p:nvSpPr>
          <p:spPr>
            <a:xfrm>
              <a:off x="0" y="0"/>
              <a:ext cx="3943200" cy="3467100"/>
            </a:xfrm>
            <a:prstGeom prst="roundRect">
              <a:avLst>
                <a:gd fmla="val 3296" name="adj"/>
              </a:avLst>
            </a:prstGeom>
            <a:solidFill>
              <a:srgbClr val="F8FAFC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" name="Google Shape;99;p15"/>
            <p:cNvSpPr txBox="1"/>
            <p:nvPr/>
          </p:nvSpPr>
          <p:spPr>
            <a:xfrm>
              <a:off x="228600" y="190500"/>
              <a:ext cx="34863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High-Growth, Resource-Constrained</a:t>
              </a:r>
              <a:endParaRPr b="1" sz="13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100" name="Google Shape;100;p15"/>
            <p:cNvGrpSpPr/>
            <p:nvPr/>
          </p:nvGrpSpPr>
          <p:grpSpPr>
            <a:xfrm>
              <a:off x="228600" y="533400"/>
              <a:ext cx="1686000" cy="590700"/>
              <a:chOff x="0" y="0"/>
              <a:chExt cx="1686000" cy="590700"/>
            </a:xfrm>
          </p:grpSpPr>
          <p:sp>
            <p:nvSpPr>
              <p:cNvPr id="101" name="Google Shape;101;p15"/>
              <p:cNvSpPr/>
              <p:nvPr/>
            </p:nvSpPr>
            <p:spPr>
              <a:xfrm>
                <a:off x="0" y="0"/>
                <a:ext cx="1686000" cy="590700"/>
              </a:xfrm>
              <a:prstGeom prst="roundRect">
                <a:avLst>
                  <a:gd fmla="val 12903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CBD5E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" name="Google Shape;102;p15"/>
              <p:cNvSpPr txBox="1"/>
              <p:nvPr/>
            </p:nvSpPr>
            <p:spPr>
              <a:xfrm>
                <a:off x="152400" y="95250"/>
                <a:ext cx="1381200" cy="400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700">
                    <a:solidFill>
                      <a:srgbClr val="7C3AED"/>
                    </a:solidFill>
                    <a:latin typeface="Inter"/>
                    <a:ea typeface="Inter"/>
                    <a:cs typeface="Inter"/>
                    <a:sym typeface="Inter"/>
                  </a:rPr>
                  <a:t>COMPANY SIZE</a:t>
                </a:r>
                <a:endParaRPr b="1" sz="700">
                  <a:solidFill>
                    <a:srgbClr val="7C3AED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b="0" lang="en" sz="1100">
                    <a:solidFill>
                      <a:srgbClr val="0F172A"/>
                    </a:solidFill>
                    <a:latin typeface="Inter ExtraBold"/>
                    <a:ea typeface="Inter ExtraBold"/>
                    <a:cs typeface="Inter ExtraBold"/>
                    <a:sym typeface="Inter ExtraBold"/>
                  </a:rPr>
                  <a:t>10–50 Employees</a:t>
                </a:r>
                <a:endParaRPr b="0" sz="11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endParaRPr>
              </a:p>
            </p:txBody>
          </p:sp>
        </p:grpSp>
        <p:grpSp>
          <p:nvGrpSpPr>
            <p:cNvPr id="103" name="Google Shape;103;p15"/>
            <p:cNvGrpSpPr/>
            <p:nvPr/>
          </p:nvGrpSpPr>
          <p:grpSpPr>
            <a:xfrm>
              <a:off x="2028825" y="533400"/>
              <a:ext cx="1686000" cy="590700"/>
              <a:chOff x="0" y="0"/>
              <a:chExt cx="1686000" cy="590700"/>
            </a:xfrm>
          </p:grpSpPr>
          <p:sp>
            <p:nvSpPr>
              <p:cNvPr id="104" name="Google Shape;104;p15"/>
              <p:cNvSpPr/>
              <p:nvPr/>
            </p:nvSpPr>
            <p:spPr>
              <a:xfrm>
                <a:off x="0" y="0"/>
                <a:ext cx="1686000" cy="590700"/>
              </a:xfrm>
              <a:prstGeom prst="roundRect">
                <a:avLst>
                  <a:gd fmla="val 12903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CBD5E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5" name="Google Shape;105;p15"/>
              <p:cNvSpPr txBox="1"/>
              <p:nvPr/>
            </p:nvSpPr>
            <p:spPr>
              <a:xfrm>
                <a:off x="152400" y="95250"/>
                <a:ext cx="1381200" cy="400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700">
                    <a:solidFill>
                      <a:srgbClr val="7C3AED"/>
                    </a:solidFill>
                    <a:latin typeface="Inter"/>
                    <a:ea typeface="Inter"/>
                    <a:cs typeface="Inter"/>
                    <a:sym typeface="Inter"/>
                  </a:rPr>
                  <a:t>HIRING PACE</a:t>
                </a:r>
                <a:endParaRPr b="1" sz="700">
                  <a:solidFill>
                    <a:srgbClr val="7C3AED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b="0" lang="en" sz="1100">
                    <a:solidFill>
                      <a:srgbClr val="0F172A"/>
                    </a:solidFill>
                    <a:latin typeface="Inter ExtraBold"/>
                    <a:ea typeface="Inter ExtraBold"/>
                    <a:cs typeface="Inter ExtraBold"/>
                    <a:sym typeface="Inter ExtraBold"/>
                  </a:rPr>
                  <a:t>1–3 Engineers / mo</a:t>
                </a:r>
                <a:endParaRPr b="0" sz="11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endParaRPr>
              </a:p>
            </p:txBody>
          </p:sp>
        </p:grpSp>
        <p:sp>
          <p:nvSpPr>
            <p:cNvPr id="106" name="Google Shape;106;p15"/>
            <p:cNvSpPr txBox="1"/>
            <p:nvPr/>
          </p:nvSpPr>
          <p:spPr>
            <a:xfrm>
              <a:off x="228600" y="1257300"/>
              <a:ext cx="3486300" cy="128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Tech startups and boutique recruiting agencies operate without dedicated talent acquisition teams. Recruiting is handled entirely on top of primary duties by a single founder or office manager.</a:t>
              </a:r>
              <a:endParaRPr b="0" sz="9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" sz="9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Enterprise ATS platforms like Greenhouse or Lever cost thousands of dollars annually—yet still demand human manual labor to screen each applicant.</a:t>
              </a:r>
              <a:endParaRPr b="0" sz="9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107" name="Google Shape;107;p15"/>
            <p:cNvGrpSpPr/>
            <p:nvPr/>
          </p:nvGrpSpPr>
          <p:grpSpPr>
            <a:xfrm>
              <a:off x="228600" y="2647950"/>
              <a:ext cx="3486300" cy="590700"/>
              <a:chOff x="0" y="0"/>
              <a:chExt cx="3486300" cy="590700"/>
            </a:xfrm>
          </p:grpSpPr>
          <p:sp>
            <p:nvSpPr>
              <p:cNvPr id="108" name="Google Shape;108;p15"/>
              <p:cNvSpPr/>
              <p:nvPr/>
            </p:nvSpPr>
            <p:spPr>
              <a:xfrm>
                <a:off x="0" y="0"/>
                <a:ext cx="3486300" cy="590700"/>
              </a:xfrm>
              <a:prstGeom prst="roundRect">
                <a:avLst>
                  <a:gd fmla="val 12903" name="adj"/>
                </a:avLst>
              </a:prstGeom>
              <a:solidFill>
                <a:srgbClr val="F3E8FF"/>
              </a:solidFill>
              <a:ln cap="flat" cmpd="sng" w="9525">
                <a:solidFill>
                  <a:srgbClr val="DDD6FE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" name="Google Shape;109;p15"/>
              <p:cNvSpPr txBox="1"/>
              <p:nvPr/>
            </p:nvSpPr>
            <p:spPr>
              <a:xfrm>
                <a:off x="152400" y="95250"/>
                <a:ext cx="3181200" cy="400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950">
                    <a:solidFill>
                      <a:srgbClr val="6D28D9"/>
                    </a:solidFill>
                    <a:latin typeface="Inter"/>
                    <a:ea typeface="Inter"/>
                    <a:cs typeface="Inter"/>
                    <a:sym typeface="Inter"/>
                  </a:rPr>
                  <a:t>Result: Severe recruiting bottlenecks that slow growth and damage candidate relations.</a:t>
                </a:r>
                <a:endParaRPr b="1" sz="950">
                  <a:solidFill>
                    <a:srgbClr val="6D28D9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110" name="Google Shape;110;p15"/>
          <p:cNvGrpSpPr/>
          <p:nvPr/>
        </p:nvGrpSpPr>
        <p:grpSpPr>
          <a:xfrm>
            <a:off x="4629150" y="1219200"/>
            <a:ext cx="4057800" cy="3467100"/>
            <a:chOff x="0" y="0"/>
            <a:chExt cx="4057800" cy="3467100"/>
          </a:xfrm>
        </p:grpSpPr>
        <p:sp>
          <p:nvSpPr>
            <p:cNvPr id="111" name="Google Shape;111;p15"/>
            <p:cNvSpPr/>
            <p:nvPr/>
          </p:nvSpPr>
          <p:spPr>
            <a:xfrm>
              <a:off x="0" y="0"/>
              <a:ext cx="4057800" cy="3467100"/>
            </a:xfrm>
            <a:prstGeom prst="roundRect">
              <a:avLst>
                <a:gd fmla="val 3296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5"/>
            <p:cNvSpPr txBox="1"/>
            <p:nvPr/>
          </p:nvSpPr>
          <p:spPr>
            <a:xfrm>
              <a:off x="228600" y="190500"/>
              <a:ext cx="36006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800">
                  <a:solidFill>
                    <a:srgbClr val="7C3AED"/>
                  </a:solidFill>
                  <a:latin typeface="Inter"/>
                  <a:ea typeface="Inter"/>
                  <a:cs typeface="Inter"/>
                  <a:sym typeface="Inter"/>
                </a:rPr>
                <a:t>PRIMARY RECRUITING BOTTLENECKS</a:t>
              </a:r>
              <a:endParaRPr b="1" sz="800">
                <a:solidFill>
                  <a:srgbClr val="7C3AED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113" name="Google Shape;113;p15"/>
            <p:cNvGrpSpPr/>
            <p:nvPr/>
          </p:nvGrpSpPr>
          <p:grpSpPr>
            <a:xfrm>
              <a:off x="228600" y="457200"/>
              <a:ext cx="3600450" cy="381000"/>
              <a:chOff x="0" y="0"/>
              <a:chExt cx="3600450" cy="381000"/>
            </a:xfrm>
          </p:grpSpPr>
          <p:sp>
            <p:nvSpPr>
              <p:cNvPr id="114" name="Google Shape;114;p15"/>
              <p:cNvSpPr/>
              <p:nvPr/>
            </p:nvSpPr>
            <p:spPr>
              <a:xfrm>
                <a:off x="0" y="0"/>
                <a:ext cx="266700" cy="266700"/>
              </a:xfrm>
              <a:prstGeom prst="ellipse">
                <a:avLst/>
              </a:prstGeom>
              <a:solidFill>
                <a:srgbClr val="F3E8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" name="Google Shape;115;p15"/>
              <p:cNvSpPr txBox="1"/>
              <p:nvPr/>
            </p:nvSpPr>
            <p:spPr>
              <a:xfrm>
                <a:off x="0" y="20447"/>
                <a:ext cx="266700" cy="26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400">
                    <a:solidFill>
                      <a:srgbClr val="7C3AED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warning_amber</a:t>
                </a:r>
                <a:endParaRPr sz="1400">
                  <a:solidFill>
                    <a:srgbClr val="7C3AED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  <p:sp>
            <p:nvSpPr>
              <p:cNvPr id="116" name="Google Shape;116;p15"/>
              <p:cNvSpPr txBox="1"/>
              <p:nvPr/>
            </p:nvSpPr>
            <p:spPr>
              <a:xfrm>
                <a:off x="361950" y="0"/>
                <a:ext cx="32385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879">
                    <a:solidFill>
                      <a:srgbClr val="0F172A"/>
                    </a:solidFill>
                    <a:latin typeface="Inter"/>
                    <a:ea typeface="Inter"/>
                    <a:cs typeface="Inter"/>
                    <a:sym typeface="Inter"/>
                  </a:rPr>
                  <a:t>50–200 CVs Per Open Role</a:t>
                </a:r>
                <a:endParaRPr b="1" sz="879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b="0" lang="en" sz="786">
                    <a:solidFill>
                      <a:srgbClr val="64748B"/>
                    </a:solidFill>
                    <a:latin typeface="Inter"/>
                    <a:ea typeface="Inter"/>
                    <a:cs typeface="Inter"/>
                    <a:sym typeface="Inter"/>
                  </a:rPr>
                  <a:t>The overwhelming majority of resumes are never properly reviewed.</a:t>
                </a:r>
                <a:endParaRPr b="0" sz="786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117" name="Google Shape;117;p15"/>
            <p:cNvGrpSpPr/>
            <p:nvPr/>
          </p:nvGrpSpPr>
          <p:grpSpPr>
            <a:xfrm>
              <a:off x="228600" y="952500"/>
              <a:ext cx="3600450" cy="381000"/>
              <a:chOff x="0" y="0"/>
              <a:chExt cx="3600450" cy="381000"/>
            </a:xfrm>
          </p:grpSpPr>
          <p:sp>
            <p:nvSpPr>
              <p:cNvPr id="118" name="Google Shape;118;p15"/>
              <p:cNvSpPr/>
              <p:nvPr/>
            </p:nvSpPr>
            <p:spPr>
              <a:xfrm>
                <a:off x="0" y="0"/>
                <a:ext cx="266700" cy="266700"/>
              </a:xfrm>
              <a:prstGeom prst="ellipse">
                <a:avLst/>
              </a:prstGeom>
              <a:solidFill>
                <a:srgbClr val="F3E8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9" name="Google Shape;119;p15"/>
              <p:cNvSpPr txBox="1"/>
              <p:nvPr/>
            </p:nvSpPr>
            <p:spPr>
              <a:xfrm>
                <a:off x="0" y="20447"/>
                <a:ext cx="266700" cy="26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400">
                    <a:solidFill>
                      <a:srgbClr val="7C3AED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schedule</a:t>
                </a:r>
                <a:endParaRPr sz="1400">
                  <a:solidFill>
                    <a:srgbClr val="7C3AED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  <p:sp>
            <p:nvSpPr>
              <p:cNvPr id="120" name="Google Shape;120;p15"/>
              <p:cNvSpPr txBox="1"/>
              <p:nvPr/>
            </p:nvSpPr>
            <p:spPr>
              <a:xfrm>
                <a:off x="361950" y="0"/>
                <a:ext cx="32385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808">
                    <a:solidFill>
                      <a:srgbClr val="0F172A"/>
                    </a:solidFill>
                    <a:latin typeface="Inter"/>
                    <a:ea typeface="Inter"/>
                    <a:cs typeface="Inter"/>
                    <a:sym typeface="Inter"/>
                  </a:rPr>
                  <a:t>Communication Delays &amp; Ghosting</a:t>
                </a:r>
                <a:endParaRPr b="1" sz="808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b="0" lang="en" sz="723">
                    <a:solidFill>
                      <a:srgbClr val="64748B"/>
                    </a:solidFill>
                    <a:latin typeface="Inter"/>
                    <a:ea typeface="Inter"/>
                    <a:cs typeface="Inter"/>
                    <a:sym typeface="Inter"/>
                  </a:rPr>
                  <a:t>Top talent waits days for responses; rejected candidates get no feedback.</a:t>
                </a:r>
                <a:endParaRPr b="0" sz="723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cxnSp>
          <p:nvCxnSpPr>
            <p:cNvPr id="121" name="Google Shape;121;p15"/>
            <p:cNvCxnSpPr/>
            <p:nvPr/>
          </p:nvCxnSpPr>
          <p:spPr>
            <a:xfrm>
              <a:off x="228600" y="1447800"/>
              <a:ext cx="36006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122" name="Google Shape;122;p15"/>
            <p:cNvGrpSpPr/>
            <p:nvPr/>
          </p:nvGrpSpPr>
          <p:grpSpPr>
            <a:xfrm>
              <a:off x="228600" y="1600200"/>
              <a:ext cx="3600600" cy="1086000"/>
              <a:chOff x="0" y="0"/>
              <a:chExt cx="3600600" cy="1086000"/>
            </a:xfrm>
          </p:grpSpPr>
          <p:sp>
            <p:nvSpPr>
              <p:cNvPr id="123" name="Google Shape;123;p15"/>
              <p:cNvSpPr/>
              <p:nvPr/>
            </p:nvSpPr>
            <p:spPr>
              <a:xfrm>
                <a:off x="0" y="0"/>
                <a:ext cx="3600600" cy="1086000"/>
              </a:xfrm>
              <a:prstGeom prst="roundRect">
                <a:avLst>
                  <a:gd fmla="val 7017" name="adj"/>
                </a:avLst>
              </a:prstGeom>
              <a:solidFill>
                <a:srgbClr val="F8FAFC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" name="Google Shape;124;p15"/>
              <p:cNvSpPr/>
              <p:nvPr/>
            </p:nvSpPr>
            <p:spPr>
              <a:xfrm>
                <a:off x="0" y="0"/>
                <a:ext cx="38100" cy="1086000"/>
              </a:xfrm>
              <a:prstGeom prst="rect">
                <a:avLst/>
              </a:prstGeom>
              <a:solidFill>
                <a:srgbClr val="7C3AED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5" name="Google Shape;125;p15"/>
              <p:cNvSpPr txBox="1"/>
              <p:nvPr/>
            </p:nvSpPr>
            <p:spPr>
              <a:xfrm>
                <a:off x="171450" y="133350"/>
                <a:ext cx="3276600" cy="81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1" lang="en" sz="1000">
                    <a:solidFill>
                      <a:srgbClr val="334155"/>
                    </a:solidFill>
                    <a:latin typeface="Inter Medium"/>
                    <a:ea typeface="Inter Medium"/>
                    <a:cs typeface="Inter Medium"/>
                    <a:sym typeface="Inter Medium"/>
                  </a:rPr>
                  <a:t>"Good candidates wait days for a reply, while rejected ones are usually ghosted. Enterprise ATS tools still require a human to manually screen applicants."</a:t>
                </a:r>
                <a:endParaRPr b="0" i="1" sz="1000">
                  <a:solidFill>
                    <a:srgbClr val="334155"/>
                  </a:solidFill>
                  <a:latin typeface="Inter Medium"/>
                  <a:ea typeface="Inter Medium"/>
                  <a:cs typeface="Inter Medium"/>
                  <a:sym typeface="Inter Medium"/>
                </a:endParaRPr>
              </a:p>
            </p:txBody>
          </p:sp>
        </p:grpSp>
        <p:sp>
          <p:nvSpPr>
            <p:cNvPr id="126" name="Google Shape;126;p15"/>
            <p:cNvSpPr txBox="1"/>
            <p:nvPr/>
          </p:nvSpPr>
          <p:spPr>
            <a:xfrm>
              <a:off x="228600" y="2819400"/>
              <a:ext cx="36006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85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THE SME CANDIDATE DROP-OFF PROBLEM</a:t>
              </a:r>
              <a:endParaRPr b="1" sz="85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b="0" lang="en" sz="85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Manual screening overhead creates critical hiring lag</a:t>
              </a:r>
              <a:endParaRPr b="0" sz="85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6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16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3" name="Google Shape;133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67238" y="342900"/>
            <a:ext cx="9600" cy="44577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4" name="Google Shape;134;p16"/>
          <p:cNvGrpSpPr/>
          <p:nvPr/>
        </p:nvGrpSpPr>
        <p:grpSpPr>
          <a:xfrm>
            <a:off x="8458200" y="342900"/>
            <a:ext cx="266700" cy="266700"/>
            <a:chOff x="0" y="0"/>
            <a:chExt cx="266700" cy="266700"/>
          </a:xfrm>
        </p:grpSpPr>
        <p:sp>
          <p:nvSpPr>
            <p:cNvPr id="135" name="Google Shape;135;p16"/>
            <p:cNvSpPr/>
            <p:nvPr/>
          </p:nvSpPr>
          <p:spPr>
            <a:xfrm>
              <a:off x="0" y="0"/>
              <a:ext cx="266700" cy="266700"/>
            </a:xfrm>
            <a:prstGeom prst="roundRect">
              <a:avLst>
                <a:gd fmla="val 28571" name="adj"/>
              </a:avLst>
            </a:prstGeom>
            <a:solidFill>
              <a:srgbClr val="7C3AED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" name="Google Shape;136;p16"/>
            <p:cNvSpPr/>
            <p:nvPr/>
          </p:nvSpPr>
          <p:spPr>
            <a:xfrm>
              <a:off x="85725" y="76200"/>
              <a:ext cx="85800" cy="10470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0" y="120000"/>
                  </a:lnTo>
                  <a:lnTo>
                    <a:pt x="120000" y="12000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cap="rnd" cmpd="sng" w="238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" name="Google Shape;137;p16"/>
            <p:cNvSpPr/>
            <p:nvPr/>
          </p:nvSpPr>
          <p:spPr>
            <a:xfrm>
              <a:off x="157163" y="71438"/>
              <a:ext cx="28500" cy="285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8" name="Google Shape;138;p16"/>
          <p:cNvSpPr txBox="1"/>
          <p:nvPr/>
        </p:nvSpPr>
        <p:spPr>
          <a:xfrm>
            <a:off x="457200" y="342900"/>
            <a:ext cx="4020000" cy="6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TRADITIONAL WORKFLOW</a:t>
            </a:r>
            <a:endParaRPr b="1" sz="800">
              <a:solidFill>
                <a:srgbClr val="64748B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lang="en" sz="17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Before: Manual &amp; Inconsistent</a:t>
            </a:r>
            <a:endParaRPr b="0" sz="2000">
              <a:solidFill>
                <a:srgbClr val="0F172A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grpSp>
        <p:nvGrpSpPr>
          <p:cNvPr id="139" name="Google Shape;139;p16"/>
          <p:cNvGrpSpPr/>
          <p:nvPr/>
        </p:nvGrpSpPr>
        <p:grpSpPr>
          <a:xfrm>
            <a:off x="457200" y="1066800"/>
            <a:ext cx="3638550" cy="1886100"/>
            <a:chOff x="0" y="0"/>
            <a:chExt cx="3638550" cy="1886100"/>
          </a:xfrm>
        </p:grpSpPr>
        <p:grpSp>
          <p:nvGrpSpPr>
            <p:cNvPr id="140" name="Google Shape;140;p16"/>
            <p:cNvGrpSpPr/>
            <p:nvPr/>
          </p:nvGrpSpPr>
          <p:grpSpPr>
            <a:xfrm>
              <a:off x="0" y="0"/>
              <a:ext cx="3638550" cy="400200"/>
              <a:chOff x="0" y="0"/>
              <a:chExt cx="3638550" cy="400200"/>
            </a:xfrm>
          </p:grpSpPr>
          <p:sp>
            <p:nvSpPr>
              <p:cNvPr id="141" name="Google Shape;141;p16"/>
              <p:cNvSpPr/>
              <p:nvPr/>
            </p:nvSpPr>
            <p:spPr>
              <a:xfrm>
                <a:off x="19050" y="19050"/>
                <a:ext cx="266700" cy="266700"/>
              </a:xfrm>
              <a:prstGeom prst="ellipse">
                <a:avLst/>
              </a:prstGeom>
              <a:solidFill>
                <a:srgbClr val="E2E8F0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" name="Google Shape;142;p16"/>
              <p:cNvSpPr txBox="1"/>
              <p:nvPr/>
            </p:nvSpPr>
            <p:spPr>
              <a:xfrm>
                <a:off x="0" y="0"/>
                <a:ext cx="30480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900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rPr>
                  <a:t>1</a:t>
                </a:r>
                <a:endParaRPr b="1" sz="9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43" name="Google Shape;143;p16"/>
              <p:cNvSpPr txBox="1"/>
              <p:nvPr/>
            </p:nvSpPr>
            <p:spPr>
              <a:xfrm>
                <a:off x="400050" y="0"/>
                <a:ext cx="3238500" cy="400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000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Download CVs from Email</a:t>
                </a:r>
                <a:endParaRPr b="1" sz="10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b="0" lang="en" sz="850">
                    <a:solidFill>
                      <a:srgbClr val="64748B"/>
                    </a:solidFill>
                    <a:latin typeface="Inter"/>
                    <a:ea typeface="Inter"/>
                    <a:cs typeface="Inter"/>
                    <a:sym typeface="Inter"/>
                  </a:rPr>
                  <a:t>Manual extraction from inbox attachments.</a:t>
                </a:r>
                <a:endParaRPr b="0" sz="85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144" name="Google Shape;144;p16"/>
            <p:cNvGrpSpPr/>
            <p:nvPr/>
          </p:nvGrpSpPr>
          <p:grpSpPr>
            <a:xfrm>
              <a:off x="0" y="495300"/>
              <a:ext cx="3638550" cy="400200"/>
              <a:chOff x="0" y="0"/>
              <a:chExt cx="3638550" cy="400200"/>
            </a:xfrm>
          </p:grpSpPr>
          <p:sp>
            <p:nvSpPr>
              <p:cNvPr id="145" name="Google Shape;145;p16"/>
              <p:cNvSpPr/>
              <p:nvPr/>
            </p:nvSpPr>
            <p:spPr>
              <a:xfrm>
                <a:off x="19050" y="19050"/>
                <a:ext cx="266700" cy="266700"/>
              </a:xfrm>
              <a:prstGeom prst="ellipse">
                <a:avLst/>
              </a:prstGeom>
              <a:solidFill>
                <a:srgbClr val="E2E8F0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" name="Google Shape;146;p16"/>
              <p:cNvSpPr txBox="1"/>
              <p:nvPr/>
            </p:nvSpPr>
            <p:spPr>
              <a:xfrm>
                <a:off x="0" y="0"/>
                <a:ext cx="30480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900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rPr>
                  <a:t>2</a:t>
                </a:r>
                <a:endParaRPr b="1" sz="9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47" name="Google Shape;147;p16"/>
              <p:cNvSpPr txBox="1"/>
              <p:nvPr/>
            </p:nvSpPr>
            <p:spPr>
              <a:xfrm>
                <a:off x="400050" y="0"/>
                <a:ext cx="3238500" cy="400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000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Skim with Gut-Feel Bias</a:t>
                </a:r>
                <a:endParaRPr b="1" sz="10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b="0" lang="en" sz="850">
                    <a:solidFill>
                      <a:srgbClr val="64748B"/>
                    </a:solidFill>
                    <a:latin typeface="Inter"/>
                    <a:ea typeface="Inter"/>
                    <a:cs typeface="Inter"/>
                    <a:sym typeface="Inter"/>
                  </a:rPr>
                  <a:t>Inconsistent screening without standard criteria.</a:t>
                </a:r>
                <a:endParaRPr b="0" sz="85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148" name="Google Shape;148;p16"/>
            <p:cNvGrpSpPr/>
            <p:nvPr/>
          </p:nvGrpSpPr>
          <p:grpSpPr>
            <a:xfrm>
              <a:off x="0" y="990600"/>
              <a:ext cx="3638550" cy="400200"/>
              <a:chOff x="0" y="0"/>
              <a:chExt cx="3638550" cy="400200"/>
            </a:xfrm>
          </p:grpSpPr>
          <p:sp>
            <p:nvSpPr>
              <p:cNvPr id="149" name="Google Shape;149;p16"/>
              <p:cNvSpPr/>
              <p:nvPr/>
            </p:nvSpPr>
            <p:spPr>
              <a:xfrm>
                <a:off x="19050" y="19050"/>
                <a:ext cx="266700" cy="266700"/>
              </a:xfrm>
              <a:prstGeom prst="ellipse">
                <a:avLst/>
              </a:prstGeom>
              <a:solidFill>
                <a:srgbClr val="E2E8F0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" name="Google Shape;150;p16"/>
              <p:cNvSpPr txBox="1"/>
              <p:nvPr/>
            </p:nvSpPr>
            <p:spPr>
              <a:xfrm>
                <a:off x="0" y="0"/>
                <a:ext cx="30480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900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rPr>
                  <a:t>3</a:t>
                </a:r>
                <a:endParaRPr b="1" sz="9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1" name="Google Shape;151;p16"/>
              <p:cNvSpPr txBox="1"/>
              <p:nvPr/>
            </p:nvSpPr>
            <p:spPr>
              <a:xfrm>
                <a:off x="400050" y="0"/>
                <a:ext cx="3238500" cy="400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000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Track in Spreadsheet</a:t>
                </a:r>
                <a:endParaRPr b="1" sz="10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b="0" lang="en" sz="850">
                    <a:solidFill>
                      <a:srgbClr val="64748B"/>
                    </a:solidFill>
                    <a:latin typeface="Inter"/>
                    <a:ea typeface="Inter"/>
                    <a:cs typeface="Inter"/>
                    <a:sym typeface="Inter"/>
                  </a:rPr>
                  <a:t>Static data entry prone to error and delay.</a:t>
                </a:r>
                <a:endParaRPr b="0" sz="85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152" name="Google Shape;152;p16"/>
            <p:cNvGrpSpPr/>
            <p:nvPr/>
          </p:nvGrpSpPr>
          <p:grpSpPr>
            <a:xfrm>
              <a:off x="0" y="1485900"/>
              <a:ext cx="3638550" cy="400200"/>
              <a:chOff x="0" y="0"/>
              <a:chExt cx="3638550" cy="400200"/>
            </a:xfrm>
          </p:grpSpPr>
          <p:sp>
            <p:nvSpPr>
              <p:cNvPr id="153" name="Google Shape;153;p16"/>
              <p:cNvSpPr/>
              <p:nvPr/>
            </p:nvSpPr>
            <p:spPr>
              <a:xfrm>
                <a:off x="19050" y="19050"/>
                <a:ext cx="266700" cy="266700"/>
              </a:xfrm>
              <a:prstGeom prst="ellipse">
                <a:avLst/>
              </a:prstGeom>
              <a:solidFill>
                <a:srgbClr val="E2E8F0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4" name="Google Shape;154;p16"/>
              <p:cNvSpPr txBox="1"/>
              <p:nvPr/>
            </p:nvSpPr>
            <p:spPr>
              <a:xfrm>
                <a:off x="0" y="0"/>
                <a:ext cx="30480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900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rPr>
                  <a:t>4</a:t>
                </a:r>
                <a:endParaRPr b="1" sz="9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5" name="Google Shape;155;p16"/>
              <p:cNvSpPr txBox="1"/>
              <p:nvPr/>
            </p:nvSpPr>
            <p:spPr>
              <a:xfrm>
                <a:off x="400050" y="0"/>
                <a:ext cx="3238500" cy="400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000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Write One-by-One Emails</a:t>
                </a:r>
                <a:endParaRPr b="1" sz="10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b="0" lang="en" sz="850">
                    <a:solidFill>
                      <a:srgbClr val="64748B"/>
                    </a:solidFill>
                    <a:latin typeface="Inter"/>
                    <a:ea typeface="Inter"/>
                    <a:cs typeface="Inter"/>
                    <a:sym typeface="Inter"/>
                  </a:rPr>
                  <a:t>Repetitive drafting of individual messages.</a:t>
                </a:r>
                <a:endParaRPr b="0" sz="85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156" name="Google Shape;156;p16"/>
          <p:cNvGrpSpPr/>
          <p:nvPr/>
        </p:nvGrpSpPr>
        <p:grpSpPr>
          <a:xfrm>
            <a:off x="457200" y="3048000"/>
            <a:ext cx="3657600" cy="1638300"/>
            <a:chOff x="0" y="0"/>
            <a:chExt cx="3657600" cy="1638300"/>
          </a:xfrm>
        </p:grpSpPr>
        <p:sp>
          <p:nvSpPr>
            <p:cNvPr id="157" name="Google Shape;157;p16"/>
            <p:cNvSpPr/>
            <p:nvPr/>
          </p:nvSpPr>
          <p:spPr>
            <a:xfrm>
              <a:off x="0" y="0"/>
              <a:ext cx="3657600" cy="1638300"/>
            </a:xfrm>
            <a:prstGeom prst="roundRect">
              <a:avLst>
                <a:gd fmla="val 6976" name="adj"/>
              </a:avLst>
            </a:prstGeom>
            <a:solidFill>
              <a:srgbClr val="FEF2F2"/>
            </a:solidFill>
            <a:ln cap="flat" cmpd="sng" w="9525">
              <a:solidFill>
                <a:srgbClr val="FCA5A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" name="Google Shape;158;p16"/>
            <p:cNvSpPr/>
            <p:nvPr/>
          </p:nvSpPr>
          <p:spPr>
            <a:xfrm>
              <a:off x="0" y="0"/>
              <a:ext cx="57300" cy="1638300"/>
            </a:xfrm>
            <a:prstGeom prst="roundRect">
              <a:avLst>
                <a:gd fmla="val 50000" name="adj"/>
              </a:avLst>
            </a:prstGeom>
            <a:solidFill>
              <a:srgbClr val="EF44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" name="Google Shape;159;p16"/>
            <p:cNvSpPr txBox="1"/>
            <p:nvPr/>
          </p:nvSpPr>
          <p:spPr>
            <a:xfrm>
              <a:off x="228600" y="171450"/>
              <a:ext cx="3200400" cy="129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3200">
                  <a:solidFill>
                    <a:srgbClr val="EF4444"/>
                  </a:solidFill>
                  <a:latin typeface="Inter Black"/>
                  <a:ea typeface="Inter Black"/>
                  <a:cs typeface="Inter Black"/>
                  <a:sym typeface="Inter Black"/>
                </a:rPr>
                <a:t>~20 min</a:t>
              </a:r>
              <a:endParaRPr b="0" sz="3200">
                <a:solidFill>
                  <a:srgbClr val="EF4444"/>
                </a:solidFill>
                <a:latin typeface="Inter Black"/>
                <a:ea typeface="Inter Black"/>
                <a:cs typeface="Inter Black"/>
                <a:sym typeface="Inter Black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1" lang="en" sz="850">
                  <a:solidFill>
                    <a:srgbClr val="991B1B"/>
                  </a:solidFill>
                  <a:latin typeface="Inter"/>
                  <a:ea typeface="Inter"/>
                  <a:cs typeface="Inter"/>
                  <a:sym typeface="Inter"/>
                </a:rPr>
                <a:t>PER CANDIDATE</a:t>
              </a:r>
              <a:endParaRPr b="1" sz="850">
                <a:solidFill>
                  <a:srgbClr val="991B1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850">
                  <a:solidFill>
                    <a:srgbClr val="7F1D1D"/>
                  </a:solidFill>
                  <a:latin typeface="Inter"/>
                  <a:ea typeface="Inter"/>
                  <a:cs typeface="Inter"/>
                  <a:sym typeface="Inter"/>
                </a:rPr>
                <a:t>High latency, inconsistent evaluation, and heavy recruiter effort.</a:t>
              </a:r>
              <a:endParaRPr b="0" sz="850">
                <a:solidFill>
                  <a:srgbClr val="7F1D1D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160" name="Google Shape;160;p16"/>
          <p:cNvSpPr txBox="1"/>
          <p:nvPr/>
        </p:nvSpPr>
        <p:spPr>
          <a:xfrm>
            <a:off x="5029200" y="342900"/>
            <a:ext cx="3238500" cy="6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7C3AED"/>
                </a:solidFill>
                <a:latin typeface="Inter"/>
                <a:ea typeface="Inter"/>
                <a:cs typeface="Inter"/>
                <a:sym typeface="Inter"/>
              </a:rPr>
              <a:t>TRANSFORMED WORKFLOW</a:t>
            </a:r>
            <a:endParaRPr b="1" sz="800">
              <a:solidFill>
                <a:srgbClr val="7C3AED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lang="en" sz="20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After: Lili</a:t>
            </a:r>
            <a:endParaRPr b="0" sz="2000">
              <a:solidFill>
                <a:srgbClr val="0F172A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grpSp>
        <p:nvGrpSpPr>
          <p:cNvPr id="161" name="Google Shape;161;p16"/>
          <p:cNvGrpSpPr/>
          <p:nvPr/>
        </p:nvGrpSpPr>
        <p:grpSpPr>
          <a:xfrm>
            <a:off x="5029200" y="1047750"/>
            <a:ext cx="3657600" cy="3619650"/>
            <a:chOff x="0" y="0"/>
            <a:chExt cx="3657600" cy="3619650"/>
          </a:xfrm>
        </p:grpSpPr>
        <p:grpSp>
          <p:nvGrpSpPr>
            <p:cNvPr id="162" name="Google Shape;162;p16"/>
            <p:cNvGrpSpPr/>
            <p:nvPr/>
          </p:nvGrpSpPr>
          <p:grpSpPr>
            <a:xfrm>
              <a:off x="0" y="0"/>
              <a:ext cx="3657600" cy="781200"/>
              <a:chOff x="0" y="0"/>
              <a:chExt cx="3657600" cy="781200"/>
            </a:xfrm>
          </p:grpSpPr>
          <p:sp>
            <p:nvSpPr>
              <p:cNvPr id="163" name="Google Shape;163;p16"/>
              <p:cNvSpPr/>
              <p:nvPr/>
            </p:nvSpPr>
            <p:spPr>
              <a:xfrm>
                <a:off x="0" y="0"/>
                <a:ext cx="3657600" cy="781200"/>
              </a:xfrm>
              <a:prstGeom prst="roundRect">
                <a:avLst>
                  <a:gd fmla="val 12195" name="adj"/>
                </a:avLst>
              </a:prstGeom>
              <a:solidFill>
                <a:srgbClr val="FAF5FF"/>
              </a:solidFill>
              <a:ln cap="flat" cmpd="sng" w="9525">
                <a:solidFill>
                  <a:srgbClr val="E9D5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" name="Google Shape;164;p16"/>
              <p:cNvSpPr/>
              <p:nvPr/>
            </p:nvSpPr>
            <p:spPr>
              <a:xfrm>
                <a:off x="171450" y="257175"/>
                <a:ext cx="266700" cy="266700"/>
              </a:xfrm>
              <a:prstGeom prst="ellipse">
                <a:avLst/>
              </a:prstGeom>
              <a:solidFill>
                <a:srgbClr val="7C3AED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" name="Google Shape;165;p16"/>
              <p:cNvSpPr txBox="1"/>
              <p:nvPr/>
            </p:nvSpPr>
            <p:spPr>
              <a:xfrm>
                <a:off x="171450" y="257175"/>
                <a:ext cx="266700" cy="26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950">
                    <a:solidFill>
                      <a:srgbClr val="FFFFFF"/>
                    </a:solidFill>
                    <a:latin typeface="Inter"/>
                    <a:ea typeface="Inter"/>
                    <a:cs typeface="Inter"/>
                    <a:sym typeface="Inter"/>
                  </a:rPr>
                  <a:t>1</a:t>
                </a:r>
                <a:endParaRPr b="1" sz="95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66" name="Google Shape;166;p16"/>
              <p:cNvSpPr txBox="1"/>
              <p:nvPr/>
            </p:nvSpPr>
            <p:spPr>
              <a:xfrm>
                <a:off x="552450" y="152400"/>
                <a:ext cx="2952900" cy="47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000">
                    <a:solidFill>
                      <a:srgbClr val="0F172A"/>
                    </a:solidFill>
                    <a:latin typeface="Inter"/>
                    <a:ea typeface="Inter"/>
                    <a:cs typeface="Inter"/>
                    <a:sym typeface="Inter"/>
                  </a:rPr>
                  <a:t>Drop CVs &amp; Instant Pre-Screen</a:t>
                </a:r>
                <a:endParaRPr b="1" sz="10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b="0" lang="en" sz="850">
                    <a:solidFill>
                      <a:srgbClr val="64748B"/>
                    </a:solidFill>
                    <a:latin typeface="Inter"/>
                    <a:ea typeface="Inter"/>
                    <a:cs typeface="Inter"/>
                    <a:sym typeface="Inter"/>
                  </a:rPr>
                  <a:t>Browser-based quick intake and automated initial screening.</a:t>
                </a:r>
                <a:endParaRPr b="0" sz="85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167" name="Google Shape;167;p16"/>
            <p:cNvGrpSpPr/>
            <p:nvPr/>
          </p:nvGrpSpPr>
          <p:grpSpPr>
            <a:xfrm>
              <a:off x="0" y="914400"/>
              <a:ext cx="3657600" cy="781200"/>
              <a:chOff x="0" y="0"/>
              <a:chExt cx="3657600" cy="781200"/>
            </a:xfrm>
          </p:grpSpPr>
          <p:sp>
            <p:nvSpPr>
              <p:cNvPr id="168" name="Google Shape;168;p16"/>
              <p:cNvSpPr/>
              <p:nvPr/>
            </p:nvSpPr>
            <p:spPr>
              <a:xfrm>
                <a:off x="0" y="0"/>
                <a:ext cx="3657600" cy="781200"/>
              </a:xfrm>
              <a:prstGeom prst="roundRect">
                <a:avLst>
                  <a:gd fmla="val 12195" name="adj"/>
                </a:avLst>
              </a:prstGeom>
              <a:solidFill>
                <a:srgbClr val="FAF5FF"/>
              </a:solidFill>
              <a:ln cap="flat" cmpd="sng" w="9525">
                <a:solidFill>
                  <a:srgbClr val="E9D5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9" name="Google Shape;169;p16"/>
              <p:cNvSpPr/>
              <p:nvPr/>
            </p:nvSpPr>
            <p:spPr>
              <a:xfrm>
                <a:off x="171450" y="257175"/>
                <a:ext cx="266700" cy="266700"/>
              </a:xfrm>
              <a:prstGeom prst="ellipse">
                <a:avLst/>
              </a:prstGeom>
              <a:solidFill>
                <a:srgbClr val="7C3AED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0" name="Google Shape;170;p16"/>
              <p:cNvSpPr txBox="1"/>
              <p:nvPr/>
            </p:nvSpPr>
            <p:spPr>
              <a:xfrm>
                <a:off x="171450" y="257175"/>
                <a:ext cx="266700" cy="26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950">
                    <a:solidFill>
                      <a:srgbClr val="FFFFFF"/>
                    </a:solidFill>
                    <a:latin typeface="Inter"/>
                    <a:ea typeface="Inter"/>
                    <a:cs typeface="Inter"/>
                    <a:sym typeface="Inter"/>
                  </a:rPr>
                  <a:t>2</a:t>
                </a:r>
                <a:endParaRPr b="1" sz="95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71" name="Google Shape;171;p16"/>
              <p:cNvSpPr txBox="1"/>
              <p:nvPr/>
            </p:nvSpPr>
            <p:spPr>
              <a:xfrm>
                <a:off x="552450" y="152400"/>
                <a:ext cx="2952900" cy="47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000">
                    <a:solidFill>
                      <a:srgbClr val="0F172A"/>
                    </a:solidFill>
                    <a:latin typeface="Inter"/>
                    <a:ea typeface="Inter"/>
                    <a:cs typeface="Inter"/>
                    <a:sym typeface="Inter"/>
                  </a:rPr>
                  <a:t>Evidence-Cited Deep Evaluation</a:t>
                </a:r>
                <a:endParaRPr b="1" sz="10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b="0" lang="en" sz="850">
                    <a:solidFill>
                      <a:srgbClr val="64748B"/>
                    </a:solidFill>
                    <a:latin typeface="Inter"/>
                    <a:ea typeface="Inter"/>
                    <a:cs typeface="Inter"/>
                    <a:sym typeface="Inter"/>
                  </a:rPr>
                  <a:t>Objective scoring grounded directly in candidate evidence.</a:t>
                </a:r>
                <a:endParaRPr b="0" sz="85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172" name="Google Shape;172;p16"/>
            <p:cNvGrpSpPr/>
            <p:nvPr/>
          </p:nvGrpSpPr>
          <p:grpSpPr>
            <a:xfrm>
              <a:off x="0" y="1828800"/>
              <a:ext cx="3657600" cy="876300"/>
              <a:chOff x="0" y="0"/>
              <a:chExt cx="3657600" cy="876300"/>
            </a:xfrm>
          </p:grpSpPr>
          <p:sp>
            <p:nvSpPr>
              <p:cNvPr id="173" name="Google Shape;173;p16"/>
              <p:cNvSpPr/>
              <p:nvPr/>
            </p:nvSpPr>
            <p:spPr>
              <a:xfrm>
                <a:off x="0" y="0"/>
                <a:ext cx="3657600" cy="876300"/>
              </a:xfrm>
              <a:prstGeom prst="roundRect">
                <a:avLst>
                  <a:gd fmla="val 10869" name="adj"/>
                </a:avLst>
              </a:prstGeom>
              <a:solidFill>
                <a:srgbClr val="FAF5FF"/>
              </a:solidFill>
              <a:ln cap="flat" cmpd="sng" w="9525">
                <a:solidFill>
                  <a:srgbClr val="E9D5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4" name="Google Shape;174;p16"/>
              <p:cNvSpPr/>
              <p:nvPr/>
            </p:nvSpPr>
            <p:spPr>
              <a:xfrm>
                <a:off x="171450" y="304800"/>
                <a:ext cx="266700" cy="266700"/>
              </a:xfrm>
              <a:prstGeom prst="ellipse">
                <a:avLst/>
              </a:prstGeom>
              <a:solidFill>
                <a:srgbClr val="7C3AED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5" name="Google Shape;175;p16"/>
              <p:cNvSpPr txBox="1"/>
              <p:nvPr/>
            </p:nvSpPr>
            <p:spPr>
              <a:xfrm>
                <a:off x="171450" y="304800"/>
                <a:ext cx="266700" cy="26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950">
                    <a:solidFill>
                      <a:srgbClr val="FFFFFF"/>
                    </a:solidFill>
                    <a:latin typeface="Inter"/>
                    <a:ea typeface="Inter"/>
                    <a:cs typeface="Inter"/>
                    <a:sym typeface="Inter"/>
                  </a:rPr>
                  <a:t>3</a:t>
                </a:r>
                <a:endParaRPr b="1" sz="95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76" name="Google Shape;176;p16"/>
              <p:cNvSpPr txBox="1"/>
              <p:nvPr/>
            </p:nvSpPr>
            <p:spPr>
              <a:xfrm>
                <a:off x="552450" y="133350"/>
                <a:ext cx="2952900" cy="609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000">
                    <a:solidFill>
                      <a:srgbClr val="0F172A"/>
                    </a:solidFill>
                    <a:latin typeface="Inter"/>
                    <a:ea typeface="Inter"/>
                    <a:cs typeface="Inter"/>
                    <a:sym typeface="Inter"/>
                  </a:rPr>
                  <a:t>Live Ranked Pipeline</a:t>
                </a:r>
                <a:endParaRPr b="1" sz="10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450"/>
                  </a:spcBef>
                  <a:spcAft>
                    <a:spcPts val="0"/>
                  </a:spcAft>
                  <a:buNone/>
                </a:pPr>
                <a:r>
                  <a:rPr b="1" lang="en" sz="700">
                    <a:solidFill>
                      <a:srgbClr val="059669"/>
                    </a:solidFill>
                    <a:latin typeface="Inter"/>
                    <a:ea typeface="Inter"/>
                    <a:cs typeface="Inter"/>
                    <a:sym typeface="Inter"/>
                  </a:rPr>
                  <a:t>TIER 1   </a:t>
                </a:r>
                <a:r>
                  <a:rPr b="1" lang="en" sz="700">
                    <a:solidFill>
                      <a:srgbClr val="D97706"/>
                    </a:solidFill>
                    <a:latin typeface="Inter"/>
                    <a:ea typeface="Inter"/>
                    <a:cs typeface="Inter"/>
                    <a:sym typeface="Inter"/>
                  </a:rPr>
                  <a:t>TIER 2   </a:t>
                </a:r>
                <a:r>
                  <a:rPr b="1" lang="en" sz="700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rPr>
                  <a:t>TIER 3</a:t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177" name="Google Shape;177;p16"/>
            <p:cNvGrpSpPr/>
            <p:nvPr/>
          </p:nvGrpSpPr>
          <p:grpSpPr>
            <a:xfrm>
              <a:off x="0" y="2838450"/>
              <a:ext cx="3657600" cy="781200"/>
              <a:chOff x="0" y="0"/>
              <a:chExt cx="3657600" cy="781200"/>
            </a:xfrm>
          </p:grpSpPr>
          <p:sp>
            <p:nvSpPr>
              <p:cNvPr id="178" name="Google Shape;178;p16"/>
              <p:cNvSpPr/>
              <p:nvPr/>
            </p:nvSpPr>
            <p:spPr>
              <a:xfrm>
                <a:off x="0" y="0"/>
                <a:ext cx="3657600" cy="781200"/>
              </a:xfrm>
              <a:prstGeom prst="roundRect">
                <a:avLst>
                  <a:gd fmla="val 12195" name="adj"/>
                </a:avLst>
              </a:prstGeom>
              <a:solidFill>
                <a:srgbClr val="FAF5FF"/>
              </a:solidFill>
              <a:ln cap="flat" cmpd="sng" w="9525">
                <a:solidFill>
                  <a:srgbClr val="E9D5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9" name="Google Shape;179;p16"/>
              <p:cNvSpPr/>
              <p:nvPr/>
            </p:nvSpPr>
            <p:spPr>
              <a:xfrm>
                <a:off x="171450" y="257175"/>
                <a:ext cx="266700" cy="266700"/>
              </a:xfrm>
              <a:prstGeom prst="ellipse">
                <a:avLst/>
              </a:prstGeom>
              <a:solidFill>
                <a:srgbClr val="7C3AED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" name="Google Shape;180;p16"/>
              <p:cNvSpPr txBox="1"/>
              <p:nvPr/>
            </p:nvSpPr>
            <p:spPr>
              <a:xfrm>
                <a:off x="171450" y="257175"/>
                <a:ext cx="266700" cy="26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950">
                    <a:solidFill>
                      <a:srgbClr val="FFFFFF"/>
                    </a:solidFill>
                    <a:latin typeface="Inter"/>
                    <a:ea typeface="Inter"/>
                    <a:cs typeface="Inter"/>
                    <a:sym typeface="Inter"/>
                  </a:rPr>
                  <a:t>4</a:t>
                </a:r>
                <a:endParaRPr b="1" sz="95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81" name="Google Shape;181;p16"/>
              <p:cNvSpPr txBox="1"/>
              <p:nvPr/>
            </p:nvSpPr>
            <p:spPr>
              <a:xfrm>
                <a:off x="552450" y="152400"/>
                <a:ext cx="2952900" cy="47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000">
                    <a:solidFill>
                      <a:srgbClr val="0F172A"/>
                    </a:solidFill>
                    <a:latin typeface="Inter"/>
                    <a:ea typeface="Inter"/>
                    <a:cs typeface="Inter"/>
                    <a:sym typeface="Inter"/>
                  </a:rPr>
                  <a:t>Automated Outreach &amp; Review</a:t>
                </a:r>
                <a:endParaRPr b="1" sz="10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b="0" lang="en" sz="850">
                    <a:solidFill>
                      <a:srgbClr val="64748B"/>
                    </a:solidFill>
                    <a:latin typeface="Inter"/>
                    <a:ea typeface="Inter"/>
                    <a:cs typeface="Inter"/>
                    <a:sym typeface="Inter"/>
                  </a:rPr>
                  <a:t>Invites go out automatically; constructive rejections wait for one-click approval.</a:t>
                </a:r>
                <a:endParaRPr b="0" sz="85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6" name="Google Shape;186;p17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187" name="Google Shape;187;p17"/>
            <p:cNvSpPr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88" name="Google Shape;188;p17"/>
            <p:cNvGrpSpPr/>
            <p:nvPr/>
          </p:nvGrpSpPr>
          <p:grpSpPr>
            <a:xfrm>
              <a:off x="8458200" y="381000"/>
              <a:ext cx="228600" cy="228600"/>
              <a:chOff x="0" y="0"/>
              <a:chExt cx="228600" cy="228600"/>
            </a:xfrm>
          </p:grpSpPr>
          <p:sp>
            <p:nvSpPr>
              <p:cNvPr id="189" name="Google Shape;189;p17"/>
              <p:cNvSpPr/>
              <p:nvPr/>
            </p:nvSpPr>
            <p:spPr>
              <a:xfrm>
                <a:off x="0" y="0"/>
                <a:ext cx="228600" cy="228600"/>
              </a:xfrm>
              <a:prstGeom prst="roundRect">
                <a:avLst>
                  <a:gd fmla="val 25000" name="adj"/>
                </a:avLst>
              </a:prstGeom>
              <a:solidFill>
                <a:srgbClr val="7C3AED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0" name="Google Shape;190;p17"/>
              <p:cNvSpPr/>
              <p:nvPr/>
            </p:nvSpPr>
            <p:spPr>
              <a:xfrm>
                <a:off x="76200" y="66675"/>
                <a:ext cx="76200" cy="95400"/>
              </a:xfrm>
              <a:custGeom>
                <a:rect b="b" l="l" r="r" t="t"/>
                <a:pathLst>
                  <a:path extrusionOk="0" h="120000" w="120000">
                    <a:moveTo>
                      <a:pt x="0" y="0"/>
                    </a:moveTo>
                    <a:lnTo>
                      <a:pt x="0" y="120000"/>
                    </a:lnTo>
                    <a:lnTo>
                      <a:pt x="120000" y="120000"/>
                    </a:lnTo>
                  </a:path>
                </a:pathLst>
              </a:custGeom>
              <a:solidFill>
                <a:srgbClr val="000000">
                  <a:alpha val="0"/>
                </a:srgbClr>
              </a:solidFill>
              <a:ln cap="rnd" cmpd="sng" w="23825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" name="Google Shape;191;p17"/>
              <p:cNvSpPr/>
              <p:nvPr/>
            </p:nvSpPr>
            <p:spPr>
              <a:xfrm>
                <a:off x="138113" y="147638"/>
                <a:ext cx="28500" cy="285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cxnSp>
          <p:nvCxnSpPr>
            <p:cNvPr id="192" name="Google Shape;192;p17"/>
            <p:cNvCxnSpPr/>
            <p:nvPr/>
          </p:nvCxnSpPr>
          <p:spPr>
            <a:xfrm>
              <a:off x="457200" y="1047750"/>
              <a:ext cx="82296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F3F4F6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93" name="Google Shape;193;p17"/>
          <p:cNvGrpSpPr/>
          <p:nvPr/>
        </p:nvGrpSpPr>
        <p:grpSpPr>
          <a:xfrm>
            <a:off x="457200" y="342900"/>
            <a:ext cx="7620000" cy="781050"/>
            <a:chOff x="0" y="0"/>
            <a:chExt cx="7620000" cy="781050"/>
          </a:xfrm>
        </p:grpSpPr>
        <p:sp>
          <p:nvSpPr>
            <p:cNvPr id="194" name="Google Shape;194;p17"/>
            <p:cNvSpPr txBox="1"/>
            <p:nvPr/>
          </p:nvSpPr>
          <p:spPr>
            <a:xfrm>
              <a:off x="0" y="0"/>
              <a:ext cx="7620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750">
                  <a:solidFill>
                    <a:srgbClr val="7C3AED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AUTONOMOUS RECRUITMENT ENGINE</a:t>
              </a:r>
              <a:endParaRPr b="0" sz="750">
                <a:solidFill>
                  <a:srgbClr val="7C3AED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sp>
          <p:nvSpPr>
            <p:cNvPr id="195" name="Google Shape;195;p17"/>
            <p:cNvSpPr txBox="1"/>
            <p:nvPr/>
          </p:nvSpPr>
          <p:spPr>
            <a:xfrm>
              <a:off x="0" y="209550"/>
              <a:ext cx="7620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100">
                  <a:solidFill>
                    <a:srgbClr val="111827"/>
                  </a:solidFill>
                  <a:latin typeface="Inter"/>
                  <a:ea typeface="Inter"/>
                  <a:cs typeface="Inter"/>
                  <a:sym typeface="Inter"/>
                </a:rPr>
                <a:t>End-to-End Autonomous Candidate Pipeline</a:t>
              </a:r>
              <a:endParaRPr b="1" sz="2100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96" name="Google Shape;196;p17"/>
            <p:cNvSpPr txBox="1"/>
            <p:nvPr/>
          </p:nvSpPr>
          <p:spPr>
            <a:xfrm>
              <a:off x="0" y="552450"/>
              <a:ext cx="76200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4B5563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Lili operates on a zero-copy-paste continuous loop with automated scoring &amp; reporting</a:t>
              </a:r>
              <a:endParaRPr b="0" sz="1200">
                <a:solidFill>
                  <a:srgbClr val="4B5563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  <p:pic>
        <p:nvPicPr>
          <p:cNvPr id="197" name="Google Shape;197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800" y="1590675"/>
            <a:ext cx="7734300" cy="192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8" name="Google Shape;198;p17"/>
          <p:cNvGrpSpPr/>
          <p:nvPr/>
        </p:nvGrpSpPr>
        <p:grpSpPr>
          <a:xfrm>
            <a:off x="457200" y="1371600"/>
            <a:ext cx="1276500" cy="3238500"/>
            <a:chOff x="0" y="0"/>
            <a:chExt cx="1276500" cy="3238500"/>
          </a:xfrm>
        </p:grpSpPr>
        <p:sp>
          <p:nvSpPr>
            <p:cNvPr id="199" name="Google Shape;199;p17"/>
            <p:cNvSpPr/>
            <p:nvPr/>
          </p:nvSpPr>
          <p:spPr>
            <a:xfrm>
              <a:off x="0" y="0"/>
              <a:ext cx="1276500" cy="3238500"/>
            </a:xfrm>
            <a:prstGeom prst="roundRect">
              <a:avLst>
                <a:gd fmla="val 5970" name="adj"/>
              </a:avLst>
            </a:prstGeom>
            <a:solidFill>
              <a:srgbClr val="F9FAFB"/>
            </a:solidFill>
            <a:ln cap="flat" cmpd="sng" w="9525">
              <a:solidFill>
                <a:srgbClr val="E5E7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" name="Google Shape;200;p17"/>
            <p:cNvSpPr/>
            <p:nvPr/>
          </p:nvSpPr>
          <p:spPr>
            <a:xfrm>
              <a:off x="95250" y="95250"/>
              <a:ext cx="266700" cy="266700"/>
            </a:xfrm>
            <a:prstGeom prst="ellipse">
              <a:avLst/>
            </a:prstGeom>
            <a:solidFill>
              <a:srgbClr val="7C3AED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" name="Google Shape;201;p17"/>
            <p:cNvSpPr txBox="1"/>
            <p:nvPr/>
          </p:nvSpPr>
          <p:spPr>
            <a:xfrm>
              <a:off x="95250" y="133350"/>
              <a:ext cx="2667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750">
                  <a:solidFill>
                    <a:srgbClr val="FFFFFF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01</a:t>
              </a:r>
              <a:endParaRPr b="0" sz="75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sp>
          <p:nvSpPr>
            <p:cNvPr id="202" name="Google Shape;202;p17"/>
            <p:cNvSpPr txBox="1"/>
            <p:nvPr/>
          </p:nvSpPr>
          <p:spPr>
            <a:xfrm>
              <a:off x="152400" y="495300"/>
              <a:ext cx="971700" cy="20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75">
                  <a:solidFill>
                    <a:srgbClr val="11182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Intake</a:t>
              </a:r>
              <a:endParaRPr b="0" sz="975">
                <a:solidFill>
                  <a:srgbClr val="111827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sp>
          <p:nvSpPr>
            <p:cNvPr id="203" name="Google Shape;203;p17"/>
            <p:cNvSpPr txBox="1"/>
            <p:nvPr/>
          </p:nvSpPr>
          <p:spPr>
            <a:xfrm>
              <a:off x="152400" y="742950"/>
              <a:ext cx="9717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4B5563"/>
                  </a:solidFill>
                  <a:latin typeface="Inter"/>
                  <a:ea typeface="Inter"/>
                  <a:cs typeface="Inter"/>
                  <a:sym typeface="Inter"/>
                </a:rPr>
                <a:t>Parses up to 3 CVs simultaneously directly in the browser with zero copy-pasting.</a:t>
              </a:r>
              <a:endParaRPr b="0" sz="90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04" name="Google Shape;204;p17"/>
            <p:cNvSpPr/>
            <p:nvPr/>
          </p:nvSpPr>
          <p:spPr>
            <a:xfrm>
              <a:off x="114300" y="2781300"/>
              <a:ext cx="1047900" cy="228600"/>
            </a:xfrm>
            <a:prstGeom prst="roundRect">
              <a:avLst>
                <a:gd fmla="val 16666" name="adj"/>
              </a:avLst>
            </a:prstGeom>
            <a:solidFill>
              <a:srgbClr val="EDE9F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" name="Google Shape;205;p17"/>
            <p:cNvSpPr txBox="1"/>
            <p:nvPr/>
          </p:nvSpPr>
          <p:spPr>
            <a:xfrm>
              <a:off x="114300" y="2781300"/>
              <a:ext cx="10479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750">
                  <a:solidFill>
                    <a:srgbClr val="7C3AED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In-Browser Parsing</a:t>
              </a:r>
              <a:endParaRPr b="0" sz="750">
                <a:solidFill>
                  <a:srgbClr val="7C3AED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  <p:grpSp>
        <p:nvGrpSpPr>
          <p:cNvPr id="206" name="Google Shape;206;p17"/>
          <p:cNvGrpSpPr/>
          <p:nvPr/>
        </p:nvGrpSpPr>
        <p:grpSpPr>
          <a:xfrm>
            <a:off x="1828800" y="1371600"/>
            <a:ext cx="1276500" cy="3238500"/>
            <a:chOff x="0" y="0"/>
            <a:chExt cx="1276500" cy="3238500"/>
          </a:xfrm>
        </p:grpSpPr>
        <p:sp>
          <p:nvSpPr>
            <p:cNvPr id="207" name="Google Shape;207;p17"/>
            <p:cNvSpPr/>
            <p:nvPr/>
          </p:nvSpPr>
          <p:spPr>
            <a:xfrm>
              <a:off x="0" y="0"/>
              <a:ext cx="1276500" cy="3238500"/>
            </a:xfrm>
            <a:prstGeom prst="roundRect">
              <a:avLst>
                <a:gd fmla="val 5970" name="adj"/>
              </a:avLst>
            </a:prstGeom>
            <a:solidFill>
              <a:srgbClr val="F9FAFB"/>
            </a:solidFill>
            <a:ln cap="flat" cmpd="sng" w="9525">
              <a:solidFill>
                <a:srgbClr val="E5E7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" name="Google Shape;208;p17"/>
            <p:cNvSpPr/>
            <p:nvPr/>
          </p:nvSpPr>
          <p:spPr>
            <a:xfrm>
              <a:off x="95250" y="95250"/>
              <a:ext cx="266700" cy="266700"/>
            </a:xfrm>
            <a:prstGeom prst="ellipse">
              <a:avLst/>
            </a:prstGeom>
            <a:solidFill>
              <a:srgbClr val="7C3AED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" name="Google Shape;209;p17"/>
            <p:cNvSpPr txBox="1"/>
            <p:nvPr/>
          </p:nvSpPr>
          <p:spPr>
            <a:xfrm>
              <a:off x="95250" y="133350"/>
              <a:ext cx="2667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750">
                  <a:solidFill>
                    <a:srgbClr val="FFFFFF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02</a:t>
              </a:r>
              <a:endParaRPr b="0" sz="75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sp>
          <p:nvSpPr>
            <p:cNvPr id="210" name="Google Shape;210;p17"/>
            <p:cNvSpPr txBox="1"/>
            <p:nvPr/>
          </p:nvSpPr>
          <p:spPr>
            <a:xfrm>
              <a:off x="152400" y="495300"/>
              <a:ext cx="971700" cy="20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75">
                  <a:solidFill>
                    <a:srgbClr val="11182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Queue</a:t>
              </a:r>
              <a:endParaRPr b="0" sz="975">
                <a:solidFill>
                  <a:srgbClr val="111827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sp>
          <p:nvSpPr>
            <p:cNvPr id="211" name="Google Shape;211;p17"/>
            <p:cNvSpPr txBox="1"/>
            <p:nvPr/>
          </p:nvSpPr>
          <p:spPr>
            <a:xfrm>
              <a:off x="152400" y="742950"/>
              <a:ext cx="9717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4B5563"/>
                  </a:solidFill>
                  <a:latin typeface="Inter"/>
                  <a:ea typeface="Inter"/>
                  <a:cs typeface="Inter"/>
                  <a:sym typeface="Inter"/>
                </a:rPr>
                <a:t>Candidates enter the processing queue seamlessly via Wesam.ai ATS integration.</a:t>
              </a:r>
              <a:endParaRPr b="0" sz="90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12" name="Google Shape;212;p17"/>
            <p:cNvSpPr/>
            <p:nvPr/>
          </p:nvSpPr>
          <p:spPr>
            <a:xfrm>
              <a:off x="114300" y="2781300"/>
              <a:ext cx="1047900" cy="228600"/>
            </a:xfrm>
            <a:prstGeom prst="roundRect">
              <a:avLst>
                <a:gd fmla="val 16666" name="adj"/>
              </a:avLst>
            </a:prstGeom>
            <a:solidFill>
              <a:srgbClr val="F3F4F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" name="Google Shape;213;p17"/>
            <p:cNvSpPr txBox="1"/>
            <p:nvPr/>
          </p:nvSpPr>
          <p:spPr>
            <a:xfrm>
              <a:off x="114300" y="2781300"/>
              <a:ext cx="10479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750">
                  <a:solidFill>
                    <a:srgbClr val="4B5563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ATS API Sync</a:t>
              </a:r>
              <a:endParaRPr b="0" sz="750">
                <a:solidFill>
                  <a:srgbClr val="4B5563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  <p:grpSp>
        <p:nvGrpSpPr>
          <p:cNvPr id="214" name="Google Shape;214;p17"/>
          <p:cNvGrpSpPr/>
          <p:nvPr/>
        </p:nvGrpSpPr>
        <p:grpSpPr>
          <a:xfrm>
            <a:off x="3190875" y="1362075"/>
            <a:ext cx="1295400" cy="3257700"/>
            <a:chOff x="-9525" y="-9525"/>
            <a:chExt cx="1295400" cy="3257700"/>
          </a:xfrm>
        </p:grpSpPr>
        <p:pic>
          <p:nvPicPr>
            <p:cNvPr id="215" name="Google Shape;215;p1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-9525" y="-9525"/>
              <a:ext cx="1295400" cy="3257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6" name="Google Shape;216;p17"/>
            <p:cNvSpPr/>
            <p:nvPr/>
          </p:nvSpPr>
          <p:spPr>
            <a:xfrm>
              <a:off x="95250" y="95250"/>
              <a:ext cx="266700" cy="266700"/>
            </a:xfrm>
            <a:prstGeom prst="ellipse">
              <a:avLst/>
            </a:prstGeom>
            <a:solidFill>
              <a:srgbClr val="7C3AED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" name="Google Shape;217;p17"/>
            <p:cNvSpPr txBox="1"/>
            <p:nvPr/>
          </p:nvSpPr>
          <p:spPr>
            <a:xfrm>
              <a:off x="95250" y="133350"/>
              <a:ext cx="2667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750">
                  <a:solidFill>
                    <a:srgbClr val="FFFFFF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03</a:t>
              </a:r>
              <a:endParaRPr b="0" sz="75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sp>
          <p:nvSpPr>
            <p:cNvPr id="218" name="Google Shape;218;p17"/>
            <p:cNvSpPr txBox="1"/>
            <p:nvPr/>
          </p:nvSpPr>
          <p:spPr>
            <a:xfrm>
              <a:off x="152400" y="495300"/>
              <a:ext cx="971700" cy="20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75">
                  <a:solidFill>
                    <a:srgbClr val="11182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Evaluate</a:t>
              </a:r>
              <a:endParaRPr b="0" sz="975">
                <a:solidFill>
                  <a:srgbClr val="111827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sp>
          <p:nvSpPr>
            <p:cNvPr id="219" name="Google Shape;219;p17"/>
            <p:cNvSpPr txBox="1"/>
            <p:nvPr/>
          </p:nvSpPr>
          <p:spPr>
            <a:xfrm>
              <a:off x="152400" y="723900"/>
              <a:ext cx="9717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825">
                  <a:solidFill>
                    <a:srgbClr val="4B5563"/>
                  </a:solidFill>
                  <a:latin typeface="Inter"/>
                  <a:ea typeface="Inter"/>
                  <a:cs typeface="Inter"/>
                  <a:sym typeface="Inter"/>
                </a:rPr>
                <a:t>Scores candidates via weighted rubric:</a:t>
              </a:r>
              <a:endParaRPr b="0" sz="825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220" name="Google Shape;220;p17"/>
            <p:cNvGrpSpPr/>
            <p:nvPr/>
          </p:nvGrpSpPr>
          <p:grpSpPr>
            <a:xfrm>
              <a:off x="95250" y="1123950"/>
              <a:ext cx="1086000" cy="952650"/>
              <a:chOff x="0" y="0"/>
              <a:chExt cx="1086000" cy="952650"/>
            </a:xfrm>
          </p:grpSpPr>
          <p:sp>
            <p:nvSpPr>
              <p:cNvPr id="221" name="Google Shape;221;p17"/>
              <p:cNvSpPr/>
              <p:nvPr/>
            </p:nvSpPr>
            <p:spPr>
              <a:xfrm>
                <a:off x="0" y="0"/>
                <a:ext cx="1086000" cy="209700"/>
              </a:xfrm>
              <a:prstGeom prst="roundRect">
                <a:avLst>
                  <a:gd fmla="val 18181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E5E7E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" name="Google Shape;222;p17"/>
              <p:cNvSpPr txBox="1"/>
              <p:nvPr/>
            </p:nvSpPr>
            <p:spPr>
              <a:xfrm>
                <a:off x="57150" y="28575"/>
                <a:ext cx="971700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750">
                    <a:solidFill>
                      <a:srgbClr val="7C3AED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Tech: </a:t>
                </a:r>
                <a:r>
                  <a:rPr b="1" lang="en" sz="750">
                    <a:solidFill>
                      <a:srgbClr val="7C3AED"/>
                    </a:solidFill>
                    <a:latin typeface="Inter"/>
                    <a:ea typeface="Inter"/>
                    <a:cs typeface="Inter"/>
                    <a:sym typeface="Inter"/>
                  </a:rPr>
                  <a:t>40%</a:t>
                </a:r>
                <a:endParaRPr b="0" sz="750">
                  <a:solidFill>
                    <a:srgbClr val="7C3AED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  <p:sp>
            <p:nvSpPr>
              <p:cNvPr id="223" name="Google Shape;223;p17"/>
              <p:cNvSpPr/>
              <p:nvPr/>
            </p:nvSpPr>
            <p:spPr>
              <a:xfrm>
                <a:off x="0" y="247650"/>
                <a:ext cx="1086000" cy="209700"/>
              </a:xfrm>
              <a:prstGeom prst="roundRect">
                <a:avLst>
                  <a:gd fmla="val 18181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E5E7E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4" name="Google Shape;224;p17"/>
              <p:cNvSpPr txBox="1"/>
              <p:nvPr/>
            </p:nvSpPr>
            <p:spPr>
              <a:xfrm>
                <a:off x="57150" y="276225"/>
                <a:ext cx="971700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750">
                    <a:solidFill>
                      <a:srgbClr val="7C3AED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Experience: </a:t>
                </a:r>
                <a:r>
                  <a:rPr b="1" lang="en" sz="750">
                    <a:solidFill>
                      <a:srgbClr val="7C3AED"/>
                    </a:solidFill>
                    <a:latin typeface="Inter"/>
                    <a:ea typeface="Inter"/>
                    <a:cs typeface="Inter"/>
                    <a:sym typeface="Inter"/>
                  </a:rPr>
                  <a:t>25%</a:t>
                </a:r>
                <a:endParaRPr b="0" sz="750">
                  <a:solidFill>
                    <a:srgbClr val="7C3AED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  <p:sp>
            <p:nvSpPr>
              <p:cNvPr id="225" name="Google Shape;225;p17"/>
              <p:cNvSpPr/>
              <p:nvPr/>
            </p:nvSpPr>
            <p:spPr>
              <a:xfrm>
                <a:off x="0" y="495300"/>
                <a:ext cx="1086000" cy="209700"/>
              </a:xfrm>
              <a:prstGeom prst="roundRect">
                <a:avLst>
                  <a:gd fmla="val 18181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E5E7E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6" name="Google Shape;226;p17"/>
              <p:cNvSpPr txBox="1"/>
              <p:nvPr/>
            </p:nvSpPr>
            <p:spPr>
              <a:xfrm>
                <a:off x="57150" y="523875"/>
                <a:ext cx="971700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750">
                    <a:solidFill>
                      <a:srgbClr val="7C3AED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Impact: </a:t>
                </a:r>
                <a:r>
                  <a:rPr b="1" lang="en" sz="750">
                    <a:solidFill>
                      <a:srgbClr val="7C3AED"/>
                    </a:solidFill>
                    <a:latin typeface="Inter"/>
                    <a:ea typeface="Inter"/>
                    <a:cs typeface="Inter"/>
                    <a:sym typeface="Inter"/>
                  </a:rPr>
                  <a:t>20%</a:t>
                </a:r>
                <a:endParaRPr b="0" sz="750">
                  <a:solidFill>
                    <a:srgbClr val="7C3AED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  <p:sp>
            <p:nvSpPr>
              <p:cNvPr id="227" name="Google Shape;227;p17"/>
              <p:cNvSpPr/>
              <p:nvPr/>
            </p:nvSpPr>
            <p:spPr>
              <a:xfrm>
                <a:off x="0" y="742950"/>
                <a:ext cx="1086000" cy="209700"/>
              </a:xfrm>
              <a:prstGeom prst="roundRect">
                <a:avLst>
                  <a:gd fmla="val 18181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E5E7E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8" name="Google Shape;228;p17"/>
              <p:cNvSpPr txBox="1"/>
              <p:nvPr/>
            </p:nvSpPr>
            <p:spPr>
              <a:xfrm>
                <a:off x="57150" y="771525"/>
                <a:ext cx="971700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750">
                    <a:solidFill>
                      <a:srgbClr val="7C3AED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Leadership: </a:t>
                </a:r>
                <a:r>
                  <a:rPr b="1" lang="en" sz="750">
                    <a:solidFill>
                      <a:srgbClr val="7C3AED"/>
                    </a:solidFill>
                    <a:latin typeface="Inter"/>
                    <a:ea typeface="Inter"/>
                    <a:cs typeface="Inter"/>
                    <a:sym typeface="Inter"/>
                  </a:rPr>
                  <a:t>15%</a:t>
                </a:r>
                <a:endParaRPr b="0" sz="750">
                  <a:solidFill>
                    <a:srgbClr val="7C3AED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</p:grpSp>
      </p:grpSp>
      <p:grpSp>
        <p:nvGrpSpPr>
          <p:cNvPr id="229" name="Google Shape;229;p17"/>
          <p:cNvGrpSpPr/>
          <p:nvPr/>
        </p:nvGrpSpPr>
        <p:grpSpPr>
          <a:xfrm>
            <a:off x="4572000" y="1371600"/>
            <a:ext cx="1276500" cy="3238500"/>
            <a:chOff x="0" y="0"/>
            <a:chExt cx="1276500" cy="3238500"/>
          </a:xfrm>
        </p:grpSpPr>
        <p:sp>
          <p:nvSpPr>
            <p:cNvPr id="230" name="Google Shape;230;p17"/>
            <p:cNvSpPr/>
            <p:nvPr/>
          </p:nvSpPr>
          <p:spPr>
            <a:xfrm>
              <a:off x="0" y="0"/>
              <a:ext cx="1276500" cy="3238500"/>
            </a:xfrm>
            <a:prstGeom prst="roundRect">
              <a:avLst>
                <a:gd fmla="val 5970" name="adj"/>
              </a:avLst>
            </a:prstGeom>
            <a:solidFill>
              <a:srgbClr val="F9FAFB"/>
            </a:solidFill>
            <a:ln cap="flat" cmpd="sng" w="9525">
              <a:solidFill>
                <a:srgbClr val="E5E7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" name="Google Shape;231;p17"/>
            <p:cNvSpPr/>
            <p:nvPr/>
          </p:nvSpPr>
          <p:spPr>
            <a:xfrm>
              <a:off x="95250" y="95250"/>
              <a:ext cx="266700" cy="266700"/>
            </a:xfrm>
            <a:prstGeom prst="ellipse">
              <a:avLst/>
            </a:prstGeom>
            <a:solidFill>
              <a:srgbClr val="7C3AED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" name="Google Shape;232;p17"/>
            <p:cNvSpPr txBox="1"/>
            <p:nvPr/>
          </p:nvSpPr>
          <p:spPr>
            <a:xfrm>
              <a:off x="95250" y="133350"/>
              <a:ext cx="2667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750">
                  <a:solidFill>
                    <a:srgbClr val="FFFFFF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04</a:t>
              </a:r>
              <a:endParaRPr b="0" sz="75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sp>
          <p:nvSpPr>
            <p:cNvPr id="233" name="Google Shape;233;p17"/>
            <p:cNvSpPr txBox="1"/>
            <p:nvPr/>
          </p:nvSpPr>
          <p:spPr>
            <a:xfrm>
              <a:off x="152400" y="495300"/>
              <a:ext cx="971700" cy="20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75">
                  <a:solidFill>
                    <a:srgbClr val="11182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Rules in DB</a:t>
              </a:r>
              <a:endParaRPr b="0" sz="975">
                <a:solidFill>
                  <a:srgbClr val="111827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grpSp>
          <p:nvGrpSpPr>
            <p:cNvPr id="234" name="Google Shape;234;p17"/>
            <p:cNvGrpSpPr/>
            <p:nvPr/>
          </p:nvGrpSpPr>
          <p:grpSpPr>
            <a:xfrm>
              <a:off x="95250" y="762000"/>
              <a:ext cx="1086000" cy="1600200"/>
              <a:chOff x="0" y="0"/>
              <a:chExt cx="1086000" cy="1600200"/>
            </a:xfrm>
          </p:grpSpPr>
          <p:sp>
            <p:nvSpPr>
              <p:cNvPr id="235" name="Google Shape;235;p17"/>
              <p:cNvSpPr/>
              <p:nvPr/>
            </p:nvSpPr>
            <p:spPr>
              <a:xfrm>
                <a:off x="0" y="0"/>
                <a:ext cx="1086000" cy="495300"/>
              </a:xfrm>
              <a:prstGeom prst="roundRect">
                <a:avLst>
                  <a:gd fmla="val 7692" name="adj"/>
                </a:avLst>
              </a:prstGeom>
              <a:solidFill>
                <a:srgbClr val="FEF2F2"/>
              </a:solidFill>
              <a:ln cap="flat" cmpd="sng" w="4775">
                <a:solidFill>
                  <a:srgbClr val="FCA5A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6" name="Google Shape;236;p17"/>
              <p:cNvSpPr txBox="1"/>
              <p:nvPr/>
            </p:nvSpPr>
            <p:spPr>
              <a:xfrm>
                <a:off x="57150" y="57150"/>
                <a:ext cx="9717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750">
                    <a:solidFill>
                      <a:srgbClr val="DC2626"/>
                    </a:solidFill>
                    <a:latin typeface="Inter Medium"/>
                    <a:ea typeface="Inter Medium"/>
                    <a:cs typeface="Inter Medium"/>
                    <a:sym typeface="Inter Medium"/>
                  </a:rPr>
                  <a:t>&lt; Min Exp:</a:t>
                </a:r>
                <a:endParaRPr b="0" sz="750">
                  <a:solidFill>
                    <a:srgbClr val="DC2626"/>
                  </a:solidFill>
                  <a:latin typeface="Inter Medium"/>
                  <a:ea typeface="Inter Medium"/>
                  <a:cs typeface="Inter Medium"/>
                  <a:sym typeface="Inter Medium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825">
                    <a:solidFill>
                      <a:srgbClr val="991B1B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Score Cap 69</a:t>
                </a:r>
                <a:endParaRPr b="0" sz="825">
                  <a:solidFill>
                    <a:srgbClr val="991B1B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  <p:sp>
            <p:nvSpPr>
              <p:cNvPr id="237" name="Google Shape;237;p17"/>
              <p:cNvSpPr/>
              <p:nvPr/>
            </p:nvSpPr>
            <p:spPr>
              <a:xfrm>
                <a:off x="0" y="552450"/>
                <a:ext cx="1086000" cy="495300"/>
              </a:xfrm>
              <a:prstGeom prst="roundRect">
                <a:avLst>
                  <a:gd fmla="val 7692" name="adj"/>
                </a:avLst>
              </a:prstGeom>
              <a:solidFill>
                <a:srgbClr val="FEF2F2"/>
              </a:solidFill>
              <a:ln cap="flat" cmpd="sng" w="4775">
                <a:solidFill>
                  <a:srgbClr val="FCA5A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" name="Google Shape;238;p17"/>
              <p:cNvSpPr txBox="1"/>
              <p:nvPr/>
            </p:nvSpPr>
            <p:spPr>
              <a:xfrm>
                <a:off x="57150" y="609600"/>
                <a:ext cx="9717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750">
                    <a:solidFill>
                      <a:srgbClr val="DC2626"/>
                    </a:solidFill>
                    <a:latin typeface="Inter Medium"/>
                    <a:ea typeface="Inter Medium"/>
                    <a:cs typeface="Inter Medium"/>
                    <a:sym typeface="Inter Medium"/>
                  </a:rPr>
                  <a:t>Missing Must-Haves:</a:t>
                </a:r>
                <a:endParaRPr b="0" sz="750">
                  <a:solidFill>
                    <a:srgbClr val="DC2626"/>
                  </a:solidFill>
                  <a:latin typeface="Inter Medium"/>
                  <a:ea typeface="Inter Medium"/>
                  <a:cs typeface="Inter Medium"/>
                  <a:sym typeface="Inter Medium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825">
                    <a:solidFill>
                      <a:srgbClr val="991B1B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Score Cap 74</a:t>
                </a:r>
                <a:endParaRPr b="0" sz="825">
                  <a:solidFill>
                    <a:srgbClr val="991B1B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  <p:sp>
            <p:nvSpPr>
              <p:cNvPr id="239" name="Google Shape;239;p17"/>
              <p:cNvSpPr/>
              <p:nvPr/>
            </p:nvSpPr>
            <p:spPr>
              <a:xfrm>
                <a:off x="0" y="1104900"/>
                <a:ext cx="1086000" cy="495300"/>
              </a:xfrm>
              <a:prstGeom prst="roundRect">
                <a:avLst>
                  <a:gd fmla="val 7692" name="adj"/>
                </a:avLst>
              </a:prstGeom>
              <a:solidFill>
                <a:srgbClr val="ECFDF5"/>
              </a:solidFill>
              <a:ln cap="flat" cmpd="sng" w="4775">
                <a:solidFill>
                  <a:srgbClr val="6EE7B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0" name="Google Shape;240;p17"/>
              <p:cNvSpPr txBox="1"/>
              <p:nvPr/>
            </p:nvSpPr>
            <p:spPr>
              <a:xfrm>
                <a:off x="57150" y="1162050"/>
                <a:ext cx="9717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750">
                    <a:solidFill>
                      <a:srgbClr val="065F46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Tier 1 Standard:</a:t>
                </a:r>
                <a:endParaRPr b="0" sz="750">
                  <a:solidFill>
                    <a:srgbClr val="065F46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825">
                    <a:solidFill>
                      <a:srgbClr val="10B981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Score ≥ 85</a:t>
                </a:r>
                <a:endParaRPr b="0" sz="825">
                  <a:solidFill>
                    <a:srgbClr val="10B981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</p:grpSp>
      </p:grpSp>
      <p:grpSp>
        <p:nvGrpSpPr>
          <p:cNvPr id="241" name="Google Shape;241;p17"/>
          <p:cNvGrpSpPr/>
          <p:nvPr/>
        </p:nvGrpSpPr>
        <p:grpSpPr>
          <a:xfrm>
            <a:off x="5943600" y="1371600"/>
            <a:ext cx="1276500" cy="3238500"/>
            <a:chOff x="0" y="0"/>
            <a:chExt cx="1276500" cy="3238500"/>
          </a:xfrm>
        </p:grpSpPr>
        <p:sp>
          <p:nvSpPr>
            <p:cNvPr id="242" name="Google Shape;242;p17"/>
            <p:cNvSpPr/>
            <p:nvPr/>
          </p:nvSpPr>
          <p:spPr>
            <a:xfrm>
              <a:off x="0" y="0"/>
              <a:ext cx="1276500" cy="3238500"/>
            </a:xfrm>
            <a:prstGeom prst="roundRect">
              <a:avLst>
                <a:gd fmla="val 5970" name="adj"/>
              </a:avLst>
            </a:prstGeom>
            <a:solidFill>
              <a:srgbClr val="F9FAFB"/>
            </a:solidFill>
            <a:ln cap="flat" cmpd="sng" w="9525">
              <a:solidFill>
                <a:srgbClr val="E5E7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" name="Google Shape;243;p17"/>
            <p:cNvSpPr/>
            <p:nvPr/>
          </p:nvSpPr>
          <p:spPr>
            <a:xfrm>
              <a:off x="95250" y="95250"/>
              <a:ext cx="266700" cy="266700"/>
            </a:xfrm>
            <a:prstGeom prst="ellipse">
              <a:avLst/>
            </a:prstGeom>
            <a:solidFill>
              <a:srgbClr val="7C3AED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" name="Google Shape;244;p17"/>
            <p:cNvSpPr txBox="1"/>
            <p:nvPr/>
          </p:nvSpPr>
          <p:spPr>
            <a:xfrm>
              <a:off x="95250" y="133350"/>
              <a:ext cx="2667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750">
                  <a:solidFill>
                    <a:srgbClr val="FFFFFF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05</a:t>
              </a:r>
              <a:endParaRPr b="0" sz="75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sp>
          <p:nvSpPr>
            <p:cNvPr id="245" name="Google Shape;245;p17"/>
            <p:cNvSpPr txBox="1"/>
            <p:nvPr/>
          </p:nvSpPr>
          <p:spPr>
            <a:xfrm>
              <a:off x="152400" y="495300"/>
              <a:ext cx="971700" cy="20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75">
                  <a:solidFill>
                    <a:srgbClr val="11182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Act</a:t>
              </a:r>
              <a:endParaRPr b="0" sz="975">
                <a:solidFill>
                  <a:srgbClr val="111827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sp>
          <p:nvSpPr>
            <p:cNvPr id="246" name="Google Shape;246;p17"/>
            <p:cNvSpPr txBox="1"/>
            <p:nvPr/>
          </p:nvSpPr>
          <p:spPr>
            <a:xfrm>
              <a:off x="152400" y="742950"/>
              <a:ext cx="9717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4B5563"/>
                  </a:solidFill>
                  <a:latin typeface="Inter"/>
                  <a:ea typeface="Inter"/>
                  <a:cs typeface="Inter"/>
                  <a:sym typeface="Inter"/>
                </a:rPr>
                <a:t>Checks GitHub claims, sends invites via Brevo, and queues rejections for your approval.</a:t>
              </a:r>
              <a:endParaRPr b="0" sz="90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47" name="Google Shape;247;p17"/>
            <p:cNvSpPr/>
            <p:nvPr/>
          </p:nvSpPr>
          <p:spPr>
            <a:xfrm>
              <a:off x="114300" y="2781300"/>
              <a:ext cx="1047900" cy="228600"/>
            </a:xfrm>
            <a:prstGeom prst="roundRect">
              <a:avLst>
                <a:gd fmla="val 16666" name="adj"/>
              </a:avLst>
            </a:prstGeom>
            <a:solidFill>
              <a:srgbClr val="F3F4F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" name="Google Shape;248;p17"/>
            <p:cNvSpPr txBox="1"/>
            <p:nvPr/>
          </p:nvSpPr>
          <p:spPr>
            <a:xfrm>
              <a:off x="114300" y="2781300"/>
              <a:ext cx="10479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750">
                  <a:solidFill>
                    <a:srgbClr val="4B5563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Brevo Messaging</a:t>
              </a:r>
              <a:endParaRPr b="0" sz="750">
                <a:solidFill>
                  <a:srgbClr val="4B5563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  <p:grpSp>
        <p:nvGrpSpPr>
          <p:cNvPr id="249" name="Google Shape;249;p17"/>
          <p:cNvGrpSpPr/>
          <p:nvPr/>
        </p:nvGrpSpPr>
        <p:grpSpPr>
          <a:xfrm>
            <a:off x="7315200" y="1371600"/>
            <a:ext cx="1371600" cy="3238500"/>
            <a:chOff x="0" y="0"/>
            <a:chExt cx="1371600" cy="3238500"/>
          </a:xfrm>
        </p:grpSpPr>
        <p:sp>
          <p:nvSpPr>
            <p:cNvPr id="250" name="Google Shape;250;p17"/>
            <p:cNvSpPr/>
            <p:nvPr/>
          </p:nvSpPr>
          <p:spPr>
            <a:xfrm>
              <a:off x="0" y="0"/>
              <a:ext cx="1371600" cy="3238500"/>
            </a:xfrm>
            <a:prstGeom prst="roundRect">
              <a:avLst>
                <a:gd fmla="val 5555" name="adj"/>
              </a:avLst>
            </a:prstGeom>
            <a:solidFill>
              <a:srgbClr val="F9FAFB"/>
            </a:solidFill>
            <a:ln cap="flat" cmpd="sng" w="9525">
              <a:solidFill>
                <a:srgbClr val="E5E7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" name="Google Shape;251;p17"/>
            <p:cNvSpPr/>
            <p:nvPr/>
          </p:nvSpPr>
          <p:spPr>
            <a:xfrm>
              <a:off x="95250" y="95250"/>
              <a:ext cx="266700" cy="266700"/>
            </a:xfrm>
            <a:prstGeom prst="ellipse">
              <a:avLst/>
            </a:prstGeom>
            <a:solidFill>
              <a:srgbClr val="7C3AED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" name="Google Shape;252;p17"/>
            <p:cNvSpPr txBox="1"/>
            <p:nvPr/>
          </p:nvSpPr>
          <p:spPr>
            <a:xfrm>
              <a:off x="95250" y="133350"/>
              <a:ext cx="2667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750">
                  <a:solidFill>
                    <a:srgbClr val="FFFFFF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06</a:t>
              </a:r>
              <a:endParaRPr b="0" sz="75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sp>
          <p:nvSpPr>
            <p:cNvPr id="253" name="Google Shape;253;p17"/>
            <p:cNvSpPr txBox="1"/>
            <p:nvPr/>
          </p:nvSpPr>
          <p:spPr>
            <a:xfrm>
              <a:off x="152400" y="495300"/>
              <a:ext cx="1066800" cy="20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75">
                  <a:solidFill>
                    <a:srgbClr val="11182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Report</a:t>
              </a:r>
              <a:endParaRPr b="0" sz="975">
                <a:solidFill>
                  <a:srgbClr val="111827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sp>
          <p:nvSpPr>
            <p:cNvPr id="254" name="Google Shape;254;p17"/>
            <p:cNvSpPr txBox="1"/>
            <p:nvPr/>
          </p:nvSpPr>
          <p:spPr>
            <a:xfrm>
              <a:off x="152400" y="742950"/>
              <a:ext cx="10668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4B5563"/>
                  </a:solidFill>
                  <a:latin typeface="Inter"/>
                  <a:ea typeface="Inter"/>
                  <a:cs typeface="Inter"/>
                  <a:sym typeface="Inter"/>
                </a:rPr>
                <a:t>Updates live dashboard instantly and generates shortlist reports for human review.</a:t>
              </a:r>
              <a:endParaRPr b="0" sz="90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55" name="Google Shape;255;p17"/>
            <p:cNvSpPr/>
            <p:nvPr/>
          </p:nvSpPr>
          <p:spPr>
            <a:xfrm>
              <a:off x="114300" y="2781300"/>
              <a:ext cx="1143000" cy="228600"/>
            </a:xfrm>
            <a:prstGeom prst="roundRect">
              <a:avLst>
                <a:gd fmla="val 16666" name="adj"/>
              </a:avLst>
            </a:prstGeom>
            <a:solidFill>
              <a:srgbClr val="10B981">
                <a:alpha val="15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" name="Google Shape;256;p17"/>
            <p:cNvSpPr txBox="1"/>
            <p:nvPr/>
          </p:nvSpPr>
          <p:spPr>
            <a:xfrm>
              <a:off x="114300" y="2781300"/>
              <a:ext cx="11430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750">
                  <a:solidFill>
                    <a:srgbClr val="10B981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Live Dashboard</a:t>
              </a:r>
              <a:endParaRPr b="0" sz="750">
                <a:solidFill>
                  <a:srgbClr val="10B981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62" name="Google Shape;262;p18"/>
          <p:cNvGrpSpPr/>
          <p:nvPr/>
        </p:nvGrpSpPr>
        <p:grpSpPr>
          <a:xfrm>
            <a:off x="8458200" y="381000"/>
            <a:ext cx="228600" cy="228600"/>
            <a:chOff x="0" y="0"/>
            <a:chExt cx="228600" cy="228600"/>
          </a:xfrm>
        </p:grpSpPr>
        <p:sp>
          <p:nvSpPr>
            <p:cNvPr id="263" name="Google Shape;263;p18"/>
            <p:cNvSpPr/>
            <p:nvPr/>
          </p:nvSpPr>
          <p:spPr>
            <a:xfrm>
              <a:off x="0" y="0"/>
              <a:ext cx="228600" cy="228600"/>
            </a:xfrm>
            <a:prstGeom prst="roundRect">
              <a:avLst>
                <a:gd fmla="val 25000" name="adj"/>
              </a:avLst>
            </a:prstGeom>
            <a:solidFill>
              <a:srgbClr val="7C3AED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" name="Google Shape;264;p18"/>
            <p:cNvSpPr/>
            <p:nvPr/>
          </p:nvSpPr>
          <p:spPr>
            <a:xfrm>
              <a:off x="76200" y="66675"/>
              <a:ext cx="76200" cy="9540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0" y="120000"/>
                  </a:lnTo>
                  <a:lnTo>
                    <a:pt x="120000" y="12000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cap="rnd" cmpd="sng" w="238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" name="Google Shape;265;p18"/>
            <p:cNvSpPr/>
            <p:nvPr/>
          </p:nvSpPr>
          <p:spPr>
            <a:xfrm>
              <a:off x="138113" y="147638"/>
              <a:ext cx="28500" cy="285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266" name="Google Shape;266;p18"/>
          <p:cNvCxnSpPr/>
          <p:nvPr/>
        </p:nvCxnSpPr>
        <p:spPr>
          <a:xfrm>
            <a:off x="457200" y="1047750"/>
            <a:ext cx="8229600" cy="0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F3F4F6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67" name="Google Shape;267;p18"/>
          <p:cNvGrpSpPr/>
          <p:nvPr/>
        </p:nvGrpSpPr>
        <p:grpSpPr>
          <a:xfrm>
            <a:off x="457200" y="333375"/>
            <a:ext cx="7620000" cy="571500"/>
            <a:chOff x="0" y="0"/>
            <a:chExt cx="7620000" cy="571500"/>
          </a:xfrm>
        </p:grpSpPr>
        <p:sp>
          <p:nvSpPr>
            <p:cNvPr id="268" name="Google Shape;268;p18"/>
            <p:cNvSpPr txBox="1"/>
            <p:nvPr/>
          </p:nvSpPr>
          <p:spPr>
            <a:xfrm>
              <a:off x="0" y="0"/>
              <a:ext cx="7620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750">
                  <a:solidFill>
                    <a:srgbClr val="7C3AED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AUTONOMOUS SCREENING RUN</a:t>
              </a:r>
              <a:endParaRPr b="0" sz="750">
                <a:solidFill>
                  <a:srgbClr val="7C3AED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sp>
          <p:nvSpPr>
            <p:cNvPr id="269" name="Google Shape;269;p18"/>
            <p:cNvSpPr txBox="1"/>
            <p:nvPr/>
          </p:nvSpPr>
          <p:spPr>
            <a:xfrm>
              <a:off x="0" y="190500"/>
              <a:ext cx="7620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100">
                  <a:solidFill>
                    <a:srgbClr val="111827"/>
                  </a:solidFill>
                  <a:latin typeface="Inter"/>
                  <a:ea typeface="Inter"/>
                  <a:cs typeface="Inter"/>
                  <a:sym typeface="Inter"/>
                </a:rPr>
                <a:t>Real-World Execution: 4 CVs, 1 Instruction</a:t>
              </a:r>
              <a:endParaRPr b="1" sz="2100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70" name="Google Shape;270;p18"/>
          <p:cNvGrpSpPr/>
          <p:nvPr/>
        </p:nvGrpSpPr>
        <p:grpSpPr>
          <a:xfrm>
            <a:off x="476250" y="1162050"/>
            <a:ext cx="8210550" cy="476250"/>
            <a:chOff x="19050" y="19050"/>
            <a:chExt cx="8210550" cy="476250"/>
          </a:xfrm>
        </p:grpSpPr>
        <p:grpSp>
          <p:nvGrpSpPr>
            <p:cNvPr id="271" name="Google Shape;271;p18"/>
            <p:cNvGrpSpPr/>
            <p:nvPr/>
          </p:nvGrpSpPr>
          <p:grpSpPr>
            <a:xfrm>
              <a:off x="19050" y="38100"/>
              <a:ext cx="190500" cy="190500"/>
              <a:chOff x="19050" y="19050"/>
              <a:chExt cx="190500" cy="190500"/>
            </a:xfrm>
          </p:grpSpPr>
          <p:sp>
            <p:nvSpPr>
              <p:cNvPr id="272" name="Google Shape;272;p18"/>
              <p:cNvSpPr/>
              <p:nvPr/>
            </p:nvSpPr>
            <p:spPr>
              <a:xfrm>
                <a:off x="19050" y="19050"/>
                <a:ext cx="190500" cy="190500"/>
              </a:xfrm>
              <a:prstGeom prst="ellipse">
                <a:avLst/>
              </a:prstGeom>
              <a:solidFill>
                <a:srgbClr val="10B981">
                  <a:alpha val="1500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3" name="Google Shape;273;p18"/>
              <p:cNvSpPr/>
              <p:nvPr/>
            </p:nvSpPr>
            <p:spPr>
              <a:xfrm>
                <a:off x="76200" y="85725"/>
                <a:ext cx="76200" cy="57300"/>
              </a:xfrm>
              <a:custGeom>
                <a:rect b="b" l="l" r="r" t="t"/>
                <a:pathLst>
                  <a:path extrusionOk="0" h="120000" w="120000">
                    <a:moveTo>
                      <a:pt x="0" y="60000"/>
                    </a:moveTo>
                    <a:lnTo>
                      <a:pt x="45000" y="120000"/>
                    </a:lnTo>
                    <a:lnTo>
                      <a:pt x="120000" y="0"/>
                    </a:lnTo>
                  </a:path>
                </a:pathLst>
              </a:custGeom>
              <a:solidFill>
                <a:srgbClr val="000000">
                  <a:alpha val="0"/>
                </a:srgbClr>
              </a:solidFill>
              <a:ln cap="rnd" cmpd="sng" w="19050">
                <a:solidFill>
                  <a:srgbClr val="10B98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74" name="Google Shape;274;p18"/>
            <p:cNvSpPr txBox="1"/>
            <p:nvPr/>
          </p:nvSpPr>
          <p:spPr>
            <a:xfrm>
              <a:off x="285750" y="19050"/>
              <a:ext cx="53340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829">
                  <a:solidFill>
                    <a:srgbClr val="11182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Autonomous Screening:</a:t>
              </a:r>
              <a:r>
                <a:rPr b="0" lang="en" sz="829">
                  <a:solidFill>
                    <a:srgbClr val="4B5563"/>
                  </a:solidFill>
                  <a:latin typeface="Inter"/>
                  <a:ea typeface="Inter"/>
                  <a:cs typeface="Inter"/>
                  <a:sym typeface="Inter"/>
                </a:rPr>
                <a:t> Lili screened all candidates without human intervention, citing specific evidence.</a:t>
              </a:r>
              <a:endParaRPr b="0" sz="829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275" name="Google Shape;275;p18"/>
            <p:cNvGrpSpPr/>
            <p:nvPr/>
          </p:nvGrpSpPr>
          <p:grpSpPr>
            <a:xfrm>
              <a:off x="19050" y="285750"/>
              <a:ext cx="190500" cy="190500"/>
              <a:chOff x="19050" y="19050"/>
              <a:chExt cx="190500" cy="190500"/>
            </a:xfrm>
          </p:grpSpPr>
          <p:sp>
            <p:nvSpPr>
              <p:cNvPr id="276" name="Google Shape;276;p18"/>
              <p:cNvSpPr/>
              <p:nvPr/>
            </p:nvSpPr>
            <p:spPr>
              <a:xfrm>
                <a:off x="19050" y="19050"/>
                <a:ext cx="190500" cy="190500"/>
              </a:xfrm>
              <a:prstGeom prst="ellipse">
                <a:avLst/>
              </a:prstGeom>
              <a:solidFill>
                <a:srgbClr val="10B981">
                  <a:alpha val="1500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7" name="Google Shape;277;p18"/>
              <p:cNvSpPr/>
              <p:nvPr/>
            </p:nvSpPr>
            <p:spPr>
              <a:xfrm>
                <a:off x="76200" y="85725"/>
                <a:ext cx="76200" cy="57300"/>
              </a:xfrm>
              <a:custGeom>
                <a:rect b="b" l="l" r="r" t="t"/>
                <a:pathLst>
                  <a:path extrusionOk="0" h="120000" w="120000">
                    <a:moveTo>
                      <a:pt x="0" y="60000"/>
                    </a:moveTo>
                    <a:lnTo>
                      <a:pt x="45000" y="120000"/>
                    </a:lnTo>
                    <a:lnTo>
                      <a:pt x="120000" y="0"/>
                    </a:lnTo>
                  </a:path>
                </a:pathLst>
              </a:custGeom>
              <a:solidFill>
                <a:srgbClr val="000000">
                  <a:alpha val="0"/>
                </a:srgbClr>
              </a:solidFill>
              <a:ln cap="rnd" cmpd="sng" w="19050">
                <a:solidFill>
                  <a:srgbClr val="10B98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78" name="Google Shape;278;p18"/>
            <p:cNvSpPr txBox="1"/>
            <p:nvPr/>
          </p:nvSpPr>
          <p:spPr>
            <a:xfrm>
              <a:off x="285750" y="266700"/>
              <a:ext cx="53340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02">
                  <a:solidFill>
                    <a:srgbClr val="11182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Live Integration:</a:t>
              </a:r>
              <a:r>
                <a:rPr b="0" lang="en" sz="902">
                  <a:solidFill>
                    <a:srgbClr val="4B5563"/>
                  </a:solidFill>
                  <a:latin typeface="Inter"/>
                  <a:ea typeface="Inter"/>
                  <a:cs typeface="Inter"/>
                  <a:sym typeface="Inter"/>
                </a:rPr>
                <a:t> Invite sent via Brevo (demo mode delivers to the recruiter's inbox); rejections await approval.</a:t>
              </a:r>
              <a:endParaRPr b="0" sz="902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279" name="Google Shape;279;p18"/>
            <p:cNvGrpSpPr/>
            <p:nvPr/>
          </p:nvGrpSpPr>
          <p:grpSpPr>
            <a:xfrm>
              <a:off x="5905500" y="38100"/>
              <a:ext cx="2324100" cy="419100"/>
              <a:chOff x="0" y="0"/>
              <a:chExt cx="2324100" cy="419100"/>
            </a:xfrm>
          </p:grpSpPr>
          <p:sp>
            <p:nvSpPr>
              <p:cNvPr id="280" name="Google Shape;280;p18"/>
              <p:cNvSpPr/>
              <p:nvPr/>
            </p:nvSpPr>
            <p:spPr>
              <a:xfrm>
                <a:off x="0" y="0"/>
                <a:ext cx="2324100" cy="419100"/>
              </a:xfrm>
              <a:prstGeom prst="roundRect">
                <a:avLst>
                  <a:gd fmla="val 18181" name="adj"/>
                </a:avLst>
              </a:prstGeom>
              <a:solidFill>
                <a:srgbClr val="F9FAFB"/>
              </a:solidFill>
              <a:ln cap="flat" cmpd="sng" w="9525">
                <a:solidFill>
                  <a:srgbClr val="E5E7E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1" name="Google Shape;281;p18"/>
              <p:cNvSpPr txBox="1"/>
              <p:nvPr/>
            </p:nvSpPr>
            <p:spPr>
              <a:xfrm>
                <a:off x="114300" y="57150"/>
                <a:ext cx="209550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675">
                    <a:solidFill>
                      <a:srgbClr val="4B5563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LIVE APPLICATION</a:t>
                </a:r>
                <a:endParaRPr b="0" sz="675">
                  <a:solidFill>
                    <a:srgbClr val="4B5563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900">
                    <a:solidFill>
                      <a:srgbClr val="7C3AED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lili-hr-agent.vercel.app</a:t>
                </a:r>
                <a:endParaRPr b="0" sz="900">
                  <a:solidFill>
                    <a:srgbClr val="7C3AED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</p:grpSp>
      </p:grpSp>
      <p:grpSp>
        <p:nvGrpSpPr>
          <p:cNvPr id="282" name="Google Shape;282;p18"/>
          <p:cNvGrpSpPr/>
          <p:nvPr/>
        </p:nvGrpSpPr>
        <p:grpSpPr>
          <a:xfrm>
            <a:off x="457200" y="1762125"/>
            <a:ext cx="3421911" cy="3162150"/>
            <a:chOff x="0" y="0"/>
            <a:chExt cx="3905400" cy="3162150"/>
          </a:xfrm>
        </p:grpSpPr>
        <p:grpSp>
          <p:nvGrpSpPr>
            <p:cNvPr id="283" name="Google Shape;283;p18"/>
            <p:cNvGrpSpPr/>
            <p:nvPr/>
          </p:nvGrpSpPr>
          <p:grpSpPr>
            <a:xfrm>
              <a:off x="0" y="0"/>
              <a:ext cx="3905400" cy="1047900"/>
              <a:chOff x="0" y="0"/>
              <a:chExt cx="3905400" cy="1047900"/>
            </a:xfrm>
          </p:grpSpPr>
          <p:sp>
            <p:nvSpPr>
              <p:cNvPr id="284" name="Google Shape;284;p18"/>
              <p:cNvSpPr/>
              <p:nvPr/>
            </p:nvSpPr>
            <p:spPr>
              <a:xfrm>
                <a:off x="0" y="0"/>
                <a:ext cx="3905400" cy="1047900"/>
              </a:xfrm>
              <a:prstGeom prst="roundRect">
                <a:avLst>
                  <a:gd fmla="val 7272" name="adj"/>
                </a:avLst>
              </a:prstGeom>
              <a:solidFill>
                <a:srgbClr val="FFFFFF"/>
              </a:solidFill>
              <a:ln cap="flat" cmpd="sng" w="14300">
                <a:solidFill>
                  <a:srgbClr val="10B98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5" name="Google Shape;285;p18"/>
              <p:cNvSpPr/>
              <p:nvPr/>
            </p:nvSpPr>
            <p:spPr>
              <a:xfrm>
                <a:off x="0" y="0"/>
                <a:ext cx="3905400" cy="1047900"/>
              </a:xfrm>
              <a:prstGeom prst="roundRect">
                <a:avLst>
                  <a:gd fmla="val 7272" name="adj"/>
                </a:avLst>
              </a:prstGeom>
              <a:solidFill>
                <a:srgbClr val="10B981">
                  <a:alpha val="300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6" name="Google Shape;286;p18"/>
              <p:cNvSpPr/>
              <p:nvPr/>
            </p:nvSpPr>
            <p:spPr>
              <a:xfrm>
                <a:off x="152400" y="152400"/>
                <a:ext cx="304800" cy="304800"/>
              </a:xfrm>
              <a:prstGeom prst="ellipse">
                <a:avLst/>
              </a:prstGeom>
              <a:solidFill>
                <a:srgbClr val="E5E7E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7" name="Google Shape;287;p18"/>
              <p:cNvSpPr txBox="1"/>
              <p:nvPr/>
            </p:nvSpPr>
            <p:spPr>
              <a:xfrm>
                <a:off x="152400" y="152400"/>
                <a:ext cx="30480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825">
                    <a:solidFill>
                      <a:srgbClr val="4B5563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SL</a:t>
                </a:r>
                <a:endParaRPr b="0" sz="825">
                  <a:solidFill>
                    <a:srgbClr val="4B5563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  <p:sp>
            <p:nvSpPr>
              <p:cNvPr id="288" name="Google Shape;288;p18"/>
              <p:cNvSpPr txBox="1"/>
              <p:nvPr/>
            </p:nvSpPr>
            <p:spPr>
              <a:xfrm>
                <a:off x="571500" y="133350"/>
                <a:ext cx="17145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125">
                    <a:solidFill>
                      <a:srgbClr val="111827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Sarah Lin</a:t>
                </a:r>
                <a:endParaRPr b="0" sz="1125">
                  <a:solidFill>
                    <a:srgbClr val="111827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  <p:sp>
            <p:nvSpPr>
              <p:cNvPr id="289" name="Google Shape;289;p18"/>
              <p:cNvSpPr txBox="1"/>
              <p:nvPr/>
            </p:nvSpPr>
            <p:spPr>
              <a:xfrm>
                <a:off x="571500" y="323850"/>
                <a:ext cx="1714500" cy="171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825">
                    <a:solidFill>
                      <a:srgbClr val="6B7280"/>
                    </a:solidFill>
                    <a:latin typeface="Inter"/>
                    <a:ea typeface="Inter"/>
                    <a:cs typeface="Inter"/>
                    <a:sym typeface="Inter"/>
                  </a:rPr>
                  <a:t>Score: </a:t>
                </a:r>
                <a:r>
                  <a:rPr b="0" lang="en" sz="975">
                    <a:solidFill>
                      <a:srgbClr val="7C3AED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96/100</a:t>
                </a:r>
                <a:endParaRPr b="0" sz="825">
                  <a:solidFill>
                    <a:srgbClr val="6B728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90" name="Google Shape;290;p18"/>
              <p:cNvSpPr/>
              <p:nvPr/>
            </p:nvSpPr>
            <p:spPr>
              <a:xfrm>
                <a:off x="2990850" y="133350"/>
                <a:ext cx="762000" cy="209700"/>
              </a:xfrm>
              <a:prstGeom prst="roundRect">
                <a:avLst>
                  <a:gd fmla="val 50000" name="adj"/>
                </a:avLst>
              </a:prstGeom>
              <a:solidFill>
                <a:srgbClr val="10B981">
                  <a:alpha val="1500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1" name="Google Shape;291;p18"/>
              <p:cNvSpPr txBox="1"/>
              <p:nvPr/>
            </p:nvSpPr>
            <p:spPr>
              <a:xfrm>
                <a:off x="2990850" y="133350"/>
                <a:ext cx="762000" cy="209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675">
                    <a:solidFill>
                      <a:srgbClr val="10B981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TIER 1</a:t>
                </a:r>
                <a:endParaRPr b="0" sz="675">
                  <a:solidFill>
                    <a:srgbClr val="10B981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  <p:pic>
            <p:nvPicPr>
              <p:cNvPr id="292" name="Google Shape;292;p18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152400" y="566738"/>
                <a:ext cx="3600600" cy="96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93" name="Google Shape;293;p18"/>
              <p:cNvSpPr txBox="1"/>
              <p:nvPr/>
            </p:nvSpPr>
            <p:spPr>
              <a:xfrm>
                <a:off x="152400" y="628650"/>
                <a:ext cx="3600600" cy="362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555">
                    <a:solidFill>
                      <a:srgbClr val="6B7280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VERDICT EVIDENCE CITED:</a:t>
                </a:r>
                <a:endParaRPr b="0" sz="555">
                  <a:solidFill>
                    <a:srgbClr val="6B7280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  <a:p>
                <a:pPr indent="0" lvl="0" marL="0" rtl="0" algn="l">
                  <a:spcBef>
                    <a:spcPts val="225"/>
                  </a:spcBef>
                  <a:spcAft>
                    <a:spcPts val="0"/>
                  </a:spcAft>
                  <a:buNone/>
                </a:pPr>
                <a:r>
                  <a:rPr b="0" lang="en" sz="763">
                    <a:solidFill>
                      <a:srgbClr val="111827"/>
                    </a:solidFill>
                    <a:latin typeface="Inter"/>
                    <a:ea typeface="Inter"/>
                    <a:cs typeface="Inter"/>
                    <a:sym typeface="Inter"/>
                  </a:rPr>
                  <a:t>• "Storybook design system adopted across 6 product teams"</a:t>
                </a:r>
                <a:endParaRPr b="0" sz="763">
                  <a:solidFill>
                    <a:srgbClr val="111827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763">
                    <a:solidFill>
                      <a:srgbClr val="111827"/>
                    </a:solidFill>
                    <a:latin typeface="Inter"/>
                    <a:ea typeface="Inter"/>
                    <a:cs typeface="Inter"/>
                    <a:sym typeface="Inter"/>
                  </a:rPr>
                  <a:t>• "Improved LCP from 3.8s to 1.4s"</a:t>
                </a:r>
                <a:endParaRPr b="0" sz="763">
                  <a:solidFill>
                    <a:srgbClr val="111827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294" name="Google Shape;294;p18"/>
            <p:cNvGrpSpPr/>
            <p:nvPr/>
          </p:nvGrpSpPr>
          <p:grpSpPr>
            <a:xfrm>
              <a:off x="0" y="1162050"/>
              <a:ext cx="3905400" cy="2000100"/>
              <a:chOff x="0" y="0"/>
              <a:chExt cx="3905400" cy="2000100"/>
            </a:xfrm>
          </p:grpSpPr>
          <p:sp>
            <p:nvSpPr>
              <p:cNvPr id="295" name="Google Shape;295;p18"/>
              <p:cNvSpPr/>
              <p:nvPr/>
            </p:nvSpPr>
            <p:spPr>
              <a:xfrm>
                <a:off x="0" y="0"/>
                <a:ext cx="3905400" cy="2000100"/>
              </a:xfrm>
              <a:prstGeom prst="roundRect">
                <a:avLst>
                  <a:gd fmla="val 3809" name="adj"/>
                </a:avLst>
              </a:prstGeom>
              <a:solidFill>
                <a:srgbClr val="F9FAFB"/>
              </a:solidFill>
              <a:ln cap="flat" cmpd="sng" w="9525">
                <a:solidFill>
                  <a:srgbClr val="E5E7E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6" name="Google Shape;296;p18"/>
              <p:cNvSpPr txBox="1"/>
              <p:nvPr/>
            </p:nvSpPr>
            <p:spPr>
              <a:xfrm>
                <a:off x="152400" y="114300"/>
                <a:ext cx="23814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900">
                    <a:solidFill>
                      <a:srgbClr val="4B5563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OTHER CANDIDATES (3 APPLICANTS)</a:t>
                </a:r>
                <a:endParaRPr b="0" sz="900">
                  <a:solidFill>
                    <a:srgbClr val="4B5563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  <p:sp>
            <p:nvSpPr>
              <p:cNvPr id="297" name="Google Shape;297;p18"/>
              <p:cNvSpPr/>
              <p:nvPr/>
            </p:nvSpPr>
            <p:spPr>
              <a:xfrm>
                <a:off x="2990850" y="114300"/>
                <a:ext cx="762000" cy="209700"/>
              </a:xfrm>
              <a:prstGeom prst="roundRect">
                <a:avLst>
                  <a:gd fmla="val 50000" name="adj"/>
                </a:avLst>
              </a:prstGeom>
              <a:solidFill>
                <a:srgbClr val="F59E0B">
                  <a:alpha val="1500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8" name="Google Shape;298;p18"/>
              <p:cNvSpPr txBox="1"/>
              <p:nvPr/>
            </p:nvSpPr>
            <p:spPr>
              <a:xfrm>
                <a:off x="2990850" y="114300"/>
                <a:ext cx="762000" cy="209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675">
                    <a:solidFill>
                      <a:srgbClr val="D97706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TIER 3</a:t>
                </a:r>
                <a:endParaRPr b="0" sz="675">
                  <a:solidFill>
                    <a:srgbClr val="D97706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  <p:grpSp>
            <p:nvGrpSpPr>
              <p:cNvPr id="299" name="Google Shape;299;p18"/>
              <p:cNvGrpSpPr/>
              <p:nvPr/>
            </p:nvGrpSpPr>
            <p:grpSpPr>
              <a:xfrm>
                <a:off x="152400" y="381000"/>
                <a:ext cx="3619500" cy="323850"/>
                <a:chOff x="0" y="0"/>
                <a:chExt cx="3619500" cy="323850"/>
              </a:xfrm>
            </p:grpSpPr>
            <p:sp>
              <p:nvSpPr>
                <p:cNvPr id="300" name="Google Shape;300;p18"/>
                <p:cNvSpPr/>
                <p:nvPr/>
              </p:nvSpPr>
              <p:spPr>
                <a:xfrm>
                  <a:off x="0" y="0"/>
                  <a:ext cx="190500" cy="190500"/>
                </a:xfrm>
                <a:prstGeom prst="ellipse">
                  <a:avLst/>
                </a:prstGeom>
                <a:solidFill>
                  <a:srgbClr val="E5E7EB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01" name="Google Shape;301;p18"/>
                <p:cNvSpPr txBox="1"/>
                <p:nvPr/>
              </p:nvSpPr>
              <p:spPr>
                <a:xfrm>
                  <a:off x="285750" y="19050"/>
                  <a:ext cx="1143000" cy="1716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lang="en" sz="825">
                      <a:solidFill>
                        <a:srgbClr val="111827"/>
                      </a:solidFill>
                      <a:latin typeface="Inter SemiBold"/>
                      <a:ea typeface="Inter SemiBold"/>
                      <a:cs typeface="Inter SemiBold"/>
                      <a:sym typeface="Inter SemiBold"/>
                    </a:rPr>
                    <a:t>Candidate B</a:t>
                  </a:r>
                  <a:endParaRPr b="0" sz="825">
                    <a:solidFill>
                      <a:srgbClr val="111827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endParaRPr>
                </a:p>
              </p:txBody>
            </p:sp>
            <p:sp>
              <p:nvSpPr>
                <p:cNvPr id="302" name="Google Shape;302;p18"/>
                <p:cNvSpPr txBox="1"/>
                <p:nvPr/>
              </p:nvSpPr>
              <p:spPr>
                <a:xfrm>
                  <a:off x="1524000" y="19050"/>
                  <a:ext cx="2095500" cy="3048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lang="en" sz="750">
                      <a:solidFill>
                        <a:srgbClr val="6B7280"/>
                      </a:solidFill>
                      <a:latin typeface="Inter"/>
                      <a:ea typeface="Inter"/>
                      <a:cs typeface="Inter"/>
                      <a:sym typeface="Inter"/>
                    </a:rPr>
                    <a:t>Applied Caps: Missing core tech stack depth; non-verifiable metrics.</a:t>
                  </a:r>
                  <a:endParaRPr b="0" sz="750">
                    <a:solidFill>
                      <a:srgbClr val="6B7280"/>
                    </a:solidFill>
                    <a:latin typeface="Inter"/>
                    <a:ea typeface="Inter"/>
                    <a:cs typeface="Inter"/>
                    <a:sym typeface="Inter"/>
                  </a:endParaRPr>
                </a:p>
              </p:txBody>
            </p:sp>
          </p:grpSp>
          <p:cxnSp>
            <p:nvCxnSpPr>
              <p:cNvPr id="303" name="Google Shape;303;p18"/>
              <p:cNvCxnSpPr/>
              <p:nvPr/>
            </p:nvCxnSpPr>
            <p:spPr>
              <a:xfrm>
                <a:off x="152400" y="838200"/>
                <a:ext cx="3600600" cy="0"/>
              </a:xfrm>
              <a:prstGeom prst="straightConnector1">
                <a:avLst/>
              </a:prstGeom>
              <a:solidFill>
                <a:srgbClr val="FFFFFF"/>
              </a:solidFill>
              <a:ln cap="flat" cmpd="sng" w="9525">
                <a:solidFill>
                  <a:srgbClr val="E5E7EB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grpSp>
            <p:nvGrpSpPr>
              <p:cNvPr id="304" name="Google Shape;304;p18"/>
              <p:cNvGrpSpPr/>
              <p:nvPr/>
            </p:nvGrpSpPr>
            <p:grpSpPr>
              <a:xfrm>
                <a:off x="152400" y="914400"/>
                <a:ext cx="3619500" cy="323850"/>
                <a:chOff x="0" y="0"/>
                <a:chExt cx="3619500" cy="323850"/>
              </a:xfrm>
            </p:grpSpPr>
            <p:sp>
              <p:nvSpPr>
                <p:cNvPr id="305" name="Google Shape;305;p18"/>
                <p:cNvSpPr/>
                <p:nvPr/>
              </p:nvSpPr>
              <p:spPr>
                <a:xfrm>
                  <a:off x="0" y="0"/>
                  <a:ext cx="190500" cy="190500"/>
                </a:xfrm>
                <a:prstGeom prst="ellipse">
                  <a:avLst/>
                </a:prstGeom>
                <a:solidFill>
                  <a:srgbClr val="E5E7EB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06" name="Google Shape;306;p18"/>
                <p:cNvSpPr txBox="1"/>
                <p:nvPr/>
              </p:nvSpPr>
              <p:spPr>
                <a:xfrm>
                  <a:off x="285750" y="19050"/>
                  <a:ext cx="1143000" cy="1716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lang="en" sz="825">
                      <a:solidFill>
                        <a:srgbClr val="111827"/>
                      </a:solidFill>
                      <a:latin typeface="Inter SemiBold"/>
                      <a:ea typeface="Inter SemiBold"/>
                      <a:cs typeface="Inter SemiBold"/>
                      <a:sym typeface="Inter SemiBold"/>
                    </a:rPr>
                    <a:t>Candidate C</a:t>
                  </a:r>
                  <a:endParaRPr b="0" sz="825">
                    <a:solidFill>
                      <a:srgbClr val="111827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endParaRPr>
                </a:p>
              </p:txBody>
            </p:sp>
            <p:sp>
              <p:nvSpPr>
                <p:cNvPr id="307" name="Google Shape;307;p18"/>
                <p:cNvSpPr txBox="1"/>
                <p:nvPr/>
              </p:nvSpPr>
              <p:spPr>
                <a:xfrm>
                  <a:off x="1524000" y="19050"/>
                  <a:ext cx="2095500" cy="3048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lang="en" sz="750">
                      <a:solidFill>
                        <a:srgbClr val="6B7280"/>
                      </a:solidFill>
                      <a:latin typeface="Inter"/>
                      <a:ea typeface="Inter"/>
                      <a:cs typeface="Inter"/>
                      <a:sym typeface="Inter"/>
                    </a:rPr>
                    <a:t>Applied Caps: Insufficient experience duration for senior requirements.</a:t>
                  </a:r>
                  <a:endParaRPr b="0" sz="750">
                    <a:solidFill>
                      <a:srgbClr val="6B7280"/>
                    </a:solidFill>
                    <a:latin typeface="Inter"/>
                    <a:ea typeface="Inter"/>
                    <a:cs typeface="Inter"/>
                    <a:sym typeface="Inter"/>
                  </a:endParaRPr>
                </a:p>
              </p:txBody>
            </p:sp>
          </p:grpSp>
          <p:cxnSp>
            <p:nvCxnSpPr>
              <p:cNvPr id="308" name="Google Shape;308;p18"/>
              <p:cNvCxnSpPr/>
              <p:nvPr/>
            </p:nvCxnSpPr>
            <p:spPr>
              <a:xfrm>
                <a:off x="152400" y="1371600"/>
                <a:ext cx="3600600" cy="0"/>
              </a:xfrm>
              <a:prstGeom prst="straightConnector1">
                <a:avLst/>
              </a:prstGeom>
              <a:solidFill>
                <a:srgbClr val="FFFFFF"/>
              </a:solidFill>
              <a:ln cap="flat" cmpd="sng" w="9525">
                <a:solidFill>
                  <a:srgbClr val="E5E7EB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grpSp>
            <p:nvGrpSpPr>
              <p:cNvPr id="309" name="Google Shape;309;p18"/>
              <p:cNvGrpSpPr/>
              <p:nvPr/>
            </p:nvGrpSpPr>
            <p:grpSpPr>
              <a:xfrm>
                <a:off x="152400" y="1447800"/>
                <a:ext cx="3619500" cy="323850"/>
                <a:chOff x="0" y="0"/>
                <a:chExt cx="3619500" cy="323850"/>
              </a:xfrm>
            </p:grpSpPr>
            <p:sp>
              <p:nvSpPr>
                <p:cNvPr id="310" name="Google Shape;310;p18"/>
                <p:cNvSpPr/>
                <p:nvPr/>
              </p:nvSpPr>
              <p:spPr>
                <a:xfrm>
                  <a:off x="0" y="0"/>
                  <a:ext cx="190500" cy="190500"/>
                </a:xfrm>
                <a:prstGeom prst="ellipse">
                  <a:avLst/>
                </a:prstGeom>
                <a:solidFill>
                  <a:srgbClr val="E5E7EB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11" name="Google Shape;311;p18"/>
                <p:cNvSpPr txBox="1"/>
                <p:nvPr/>
              </p:nvSpPr>
              <p:spPr>
                <a:xfrm>
                  <a:off x="285750" y="19050"/>
                  <a:ext cx="1143000" cy="1716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lang="en" sz="825">
                      <a:solidFill>
                        <a:srgbClr val="111827"/>
                      </a:solidFill>
                      <a:latin typeface="Inter SemiBold"/>
                      <a:ea typeface="Inter SemiBold"/>
                      <a:cs typeface="Inter SemiBold"/>
                      <a:sym typeface="Inter SemiBold"/>
                    </a:rPr>
                    <a:t>Candidate D</a:t>
                  </a:r>
                  <a:endParaRPr b="0" sz="825">
                    <a:solidFill>
                      <a:srgbClr val="111827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endParaRPr>
                </a:p>
              </p:txBody>
            </p:sp>
            <p:sp>
              <p:nvSpPr>
                <p:cNvPr id="312" name="Google Shape;312;p18"/>
                <p:cNvSpPr txBox="1"/>
                <p:nvPr/>
              </p:nvSpPr>
              <p:spPr>
                <a:xfrm>
                  <a:off x="1524000" y="19050"/>
                  <a:ext cx="2095500" cy="3048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lang="en" sz="750">
                      <a:solidFill>
                        <a:srgbClr val="6B7280"/>
                      </a:solidFill>
                      <a:latin typeface="Inter"/>
                      <a:ea typeface="Inter"/>
                      <a:cs typeface="Inter"/>
                      <a:sym typeface="Inter"/>
                    </a:rPr>
                    <a:t>Applied Caps: Key domain skills absent in background review.</a:t>
                  </a:r>
                  <a:endParaRPr b="0" sz="750">
                    <a:solidFill>
                      <a:srgbClr val="6B7280"/>
                    </a:solidFill>
                    <a:latin typeface="Inter"/>
                    <a:ea typeface="Inter"/>
                    <a:cs typeface="Inter"/>
                    <a:sym typeface="Inter"/>
                  </a:endParaRPr>
                </a:p>
              </p:txBody>
            </p:sp>
          </p:grpSp>
        </p:grpSp>
      </p:grpSp>
      <p:sp>
        <p:nvSpPr>
          <p:cNvPr id="313" name="Google Shape;313;p18"/>
          <p:cNvSpPr txBox="1"/>
          <p:nvPr/>
        </p:nvSpPr>
        <p:spPr>
          <a:xfrm>
            <a:off x="4572000" y="4228998"/>
            <a:ext cx="41148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>
                <a:solidFill>
                  <a:srgbClr val="11182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Live Dashboard &amp; Activity Log</a:t>
            </a:r>
            <a:endParaRPr b="0" sz="900">
              <a:solidFill>
                <a:srgbClr val="111827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0" lvl="0" marL="0" rtl="0" algn="l">
              <a:spcBef>
                <a:spcPts val="150"/>
              </a:spcBef>
              <a:spcAft>
                <a:spcPts val="0"/>
              </a:spcAft>
              <a:buNone/>
            </a:pPr>
            <a:r>
              <a:rPr b="0" lang="en" sz="825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The system automatically logs each evaluation step in real-time and issues email confirmation via Brevo instantly upon candidate ranking.</a:t>
            </a:r>
            <a:endParaRPr b="0" sz="825">
              <a:solidFill>
                <a:srgbClr val="4B5563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314" name="Google Shape;314;p18"/>
          <p:cNvPicPr preferRelativeResize="0"/>
          <p:nvPr/>
        </p:nvPicPr>
        <p:blipFill rotWithShape="1">
          <a:blip r:embed="rId4">
            <a:alphaModFix/>
          </a:blip>
          <a:srcRect b="1314"/>
          <a:stretch/>
        </p:blipFill>
        <p:spPr>
          <a:xfrm>
            <a:off x="4286750" y="1638300"/>
            <a:ext cx="4457923" cy="2461026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9" name="Google Shape;319;p19"/>
          <p:cNvGrpSpPr/>
          <p:nvPr/>
        </p:nvGrpSpPr>
        <p:grpSpPr>
          <a:xfrm>
            <a:off x="8458200" y="457200"/>
            <a:ext cx="228600" cy="228600"/>
            <a:chOff x="0" y="0"/>
            <a:chExt cx="228600" cy="228600"/>
          </a:xfrm>
        </p:grpSpPr>
        <p:sp>
          <p:nvSpPr>
            <p:cNvPr id="320" name="Google Shape;320;p19"/>
            <p:cNvSpPr/>
            <p:nvPr/>
          </p:nvSpPr>
          <p:spPr>
            <a:xfrm>
              <a:off x="0" y="0"/>
              <a:ext cx="228600" cy="228600"/>
            </a:xfrm>
            <a:prstGeom prst="roundRect">
              <a:avLst>
                <a:gd fmla="val 25000" name="adj"/>
              </a:avLst>
            </a:prstGeom>
            <a:solidFill>
              <a:srgbClr val="7C3AED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" name="Google Shape;321;p19"/>
            <p:cNvSpPr/>
            <p:nvPr/>
          </p:nvSpPr>
          <p:spPr>
            <a:xfrm>
              <a:off x="76200" y="66675"/>
              <a:ext cx="76200" cy="9540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0" y="120000"/>
                  </a:lnTo>
                  <a:lnTo>
                    <a:pt x="120000" y="12000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cap="rnd" cmpd="sng" w="238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" name="Google Shape;322;p19"/>
            <p:cNvSpPr/>
            <p:nvPr/>
          </p:nvSpPr>
          <p:spPr>
            <a:xfrm>
              <a:off x="138113" y="147638"/>
              <a:ext cx="28500" cy="285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323" name="Google Shape;323;p19"/>
          <p:cNvCxnSpPr/>
          <p:nvPr/>
        </p:nvCxnSpPr>
        <p:spPr>
          <a:xfrm>
            <a:off x="457200" y="1047750"/>
            <a:ext cx="8229600" cy="0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F3F4F6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324" name="Google Shape;324;p19"/>
          <p:cNvGrpSpPr/>
          <p:nvPr/>
        </p:nvGrpSpPr>
        <p:grpSpPr>
          <a:xfrm>
            <a:off x="457200" y="381000"/>
            <a:ext cx="7810500" cy="590550"/>
            <a:chOff x="457200" y="381000"/>
            <a:chExt cx="7810500" cy="590550"/>
          </a:xfrm>
        </p:grpSpPr>
        <p:sp>
          <p:nvSpPr>
            <p:cNvPr id="325" name="Google Shape;325;p19"/>
            <p:cNvSpPr txBox="1"/>
            <p:nvPr/>
          </p:nvSpPr>
          <p:spPr>
            <a:xfrm>
              <a:off x="457200" y="381000"/>
              <a:ext cx="78105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750">
                  <a:solidFill>
                    <a:srgbClr val="7C3AED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QUANTIFIABLE ROI &amp; EFFICIENCY</a:t>
              </a:r>
              <a:endParaRPr b="0" sz="750">
                <a:solidFill>
                  <a:srgbClr val="7C3AED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sp>
          <p:nvSpPr>
            <p:cNvPr id="326" name="Google Shape;326;p19"/>
            <p:cNvSpPr txBox="1"/>
            <p:nvPr/>
          </p:nvSpPr>
          <p:spPr>
            <a:xfrm>
              <a:off x="457200" y="590550"/>
              <a:ext cx="7810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400">
                  <a:solidFill>
                    <a:srgbClr val="111827"/>
                  </a:solidFill>
                  <a:latin typeface="Inter"/>
                  <a:ea typeface="Inter"/>
                  <a:cs typeface="Inter"/>
                  <a:sym typeface="Inter"/>
                </a:rPr>
                <a:t>Time Savings &amp; Candidate Engagement Impact</a:t>
              </a:r>
              <a:endParaRPr b="1" sz="2400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327" name="Google Shape;327;p19"/>
          <p:cNvGrpSpPr/>
          <p:nvPr/>
        </p:nvGrpSpPr>
        <p:grpSpPr>
          <a:xfrm>
            <a:off x="447675" y="1285875"/>
            <a:ext cx="3981600" cy="1638300"/>
            <a:chOff x="-9525" y="-9525"/>
            <a:chExt cx="3981600" cy="1638300"/>
          </a:xfrm>
        </p:grpSpPr>
        <p:pic>
          <p:nvPicPr>
            <p:cNvPr id="328" name="Google Shape;328;p1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-9525" y="-9525"/>
              <a:ext cx="3981600" cy="16383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9" name="Google Shape;329;p19"/>
            <p:cNvSpPr txBox="1"/>
            <p:nvPr/>
          </p:nvSpPr>
          <p:spPr>
            <a:xfrm>
              <a:off x="228600" y="190500"/>
              <a:ext cx="3505200" cy="52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3300">
                  <a:solidFill>
                    <a:srgbClr val="7C3AED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66 Hours/Mo</a:t>
              </a:r>
              <a:endParaRPr b="0" sz="3300">
                <a:solidFill>
                  <a:srgbClr val="7C3AED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  <p:sp>
          <p:nvSpPr>
            <p:cNvPr id="330" name="Google Shape;330;p19"/>
            <p:cNvSpPr txBox="1"/>
            <p:nvPr/>
          </p:nvSpPr>
          <p:spPr>
            <a:xfrm>
              <a:off x="228600" y="762000"/>
              <a:ext cx="35052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11182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Manual Screening Replaced Monthly</a:t>
              </a:r>
              <a:endParaRPr b="0" sz="1050">
                <a:solidFill>
                  <a:srgbClr val="111827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sp>
          <p:nvSpPr>
            <p:cNvPr id="331" name="Google Shape;331;p19"/>
            <p:cNvSpPr txBox="1"/>
            <p:nvPr/>
          </p:nvSpPr>
          <p:spPr>
            <a:xfrm>
              <a:off x="228600" y="1028700"/>
              <a:ext cx="3505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4B5563"/>
                  </a:solidFill>
                  <a:latin typeface="Inter"/>
                  <a:ea typeface="Inter"/>
                  <a:cs typeface="Inter"/>
                  <a:sym typeface="Inter"/>
                </a:rPr>
                <a:t>2 open roles × ~100 CVs × 20 min each. About 60 hours return to the team after reviewing Lili's shortlist.</a:t>
              </a:r>
              <a:endParaRPr b="0" sz="105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332" name="Google Shape;332;p19"/>
          <p:cNvGrpSpPr/>
          <p:nvPr/>
        </p:nvGrpSpPr>
        <p:grpSpPr>
          <a:xfrm>
            <a:off x="4714875" y="1285875"/>
            <a:ext cx="3981600" cy="1638300"/>
            <a:chOff x="-9525" y="-9525"/>
            <a:chExt cx="3981600" cy="1638300"/>
          </a:xfrm>
        </p:grpSpPr>
        <p:pic>
          <p:nvPicPr>
            <p:cNvPr id="333" name="Google Shape;333;p1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-9525" y="-9525"/>
              <a:ext cx="3981600" cy="16383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34" name="Google Shape;334;p19"/>
            <p:cNvSpPr txBox="1"/>
            <p:nvPr/>
          </p:nvSpPr>
          <p:spPr>
            <a:xfrm>
              <a:off x="228600" y="190500"/>
              <a:ext cx="3505200" cy="52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3300">
                  <a:solidFill>
                    <a:srgbClr val="7C3AED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Days → Minutes</a:t>
              </a:r>
              <a:endParaRPr b="0" sz="3300">
                <a:solidFill>
                  <a:srgbClr val="7C3AED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  <p:sp>
          <p:nvSpPr>
            <p:cNvPr id="335" name="Google Shape;335;p19"/>
            <p:cNvSpPr txBox="1"/>
            <p:nvPr/>
          </p:nvSpPr>
          <p:spPr>
            <a:xfrm>
              <a:off x="228600" y="762000"/>
              <a:ext cx="35052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11182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First Reply Velocity</a:t>
              </a:r>
              <a:endParaRPr b="0" sz="1050">
                <a:solidFill>
                  <a:srgbClr val="111827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sp>
          <p:nvSpPr>
            <p:cNvPr id="336" name="Google Shape;336;p19"/>
            <p:cNvSpPr txBox="1"/>
            <p:nvPr/>
          </p:nvSpPr>
          <p:spPr>
            <a:xfrm>
              <a:off x="228600" y="1028700"/>
              <a:ext cx="3505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4B5563"/>
                  </a:solidFill>
                  <a:latin typeface="Inter"/>
                  <a:ea typeface="Inter"/>
                  <a:cs typeface="Inter"/>
                  <a:sym typeface="Inter"/>
                </a:rPr>
                <a:t>Time to first reply drops dramatically, ensuring top tier talent is immediately engaged before competitors.</a:t>
              </a:r>
              <a:endParaRPr b="0" sz="105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337" name="Google Shape;337;p19"/>
          <p:cNvGrpSpPr/>
          <p:nvPr/>
        </p:nvGrpSpPr>
        <p:grpSpPr>
          <a:xfrm>
            <a:off x="457200" y="3143250"/>
            <a:ext cx="8229600" cy="1447800"/>
            <a:chOff x="0" y="0"/>
            <a:chExt cx="8229600" cy="1447800"/>
          </a:xfrm>
        </p:grpSpPr>
        <p:sp>
          <p:nvSpPr>
            <p:cNvPr id="338" name="Google Shape;338;p19"/>
            <p:cNvSpPr txBox="1"/>
            <p:nvPr/>
          </p:nvSpPr>
          <p:spPr>
            <a:xfrm>
              <a:off x="0" y="0"/>
              <a:ext cx="82296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750">
                  <a:solidFill>
                    <a:srgbClr val="7C3AED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CALCULATION CONTEXT &amp; BENCHMARKS</a:t>
              </a:r>
              <a:endParaRPr b="0" sz="750">
                <a:solidFill>
                  <a:srgbClr val="7C3AED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grpSp>
          <p:nvGrpSpPr>
            <p:cNvPr id="339" name="Google Shape;339;p19"/>
            <p:cNvGrpSpPr/>
            <p:nvPr/>
          </p:nvGrpSpPr>
          <p:grpSpPr>
            <a:xfrm>
              <a:off x="0" y="266700"/>
              <a:ext cx="3962400" cy="1181100"/>
              <a:chOff x="0" y="0"/>
              <a:chExt cx="3962400" cy="1181100"/>
            </a:xfrm>
          </p:grpSpPr>
          <p:sp>
            <p:nvSpPr>
              <p:cNvPr id="340" name="Google Shape;340;p19"/>
              <p:cNvSpPr/>
              <p:nvPr/>
            </p:nvSpPr>
            <p:spPr>
              <a:xfrm>
                <a:off x="0" y="0"/>
                <a:ext cx="3962400" cy="1181100"/>
              </a:xfrm>
              <a:prstGeom prst="roundRect">
                <a:avLst>
                  <a:gd fmla="val 6451" name="adj"/>
                </a:avLst>
              </a:prstGeom>
              <a:solidFill>
                <a:srgbClr val="F9FAFB"/>
              </a:solidFill>
              <a:ln cap="flat" cmpd="sng" w="9525">
                <a:solidFill>
                  <a:srgbClr val="E5E7E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1" name="Google Shape;341;p19"/>
              <p:cNvSpPr txBox="1"/>
              <p:nvPr/>
            </p:nvSpPr>
            <p:spPr>
              <a:xfrm>
                <a:off x="190500" y="152400"/>
                <a:ext cx="35814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050">
                    <a:solidFill>
                      <a:srgbClr val="111827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~20 Minutes Saved Per Candidate</a:t>
                </a:r>
                <a:endParaRPr b="0" sz="1050">
                  <a:solidFill>
                    <a:srgbClr val="111827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  <p:sp>
            <p:nvSpPr>
              <p:cNvPr id="342" name="Google Shape;342;p19"/>
              <p:cNvSpPr txBox="1"/>
              <p:nvPr/>
            </p:nvSpPr>
            <p:spPr>
              <a:xfrm>
                <a:off x="190500" y="419100"/>
                <a:ext cx="3581400" cy="609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050">
                    <a:solidFill>
                      <a:srgbClr val="4B5563"/>
                    </a:solidFill>
                    <a:latin typeface="Inter"/>
                    <a:ea typeface="Inter"/>
                    <a:cs typeface="Inter"/>
                    <a:sym typeface="Inter"/>
                  </a:rPr>
                  <a:t>Lili automates initial candidate evaluation, freeing recruiters from repetitive manual screening tasks without sacrificing assessment depth.</a:t>
                </a:r>
                <a:endParaRPr b="0" sz="1050">
                  <a:solidFill>
                    <a:srgbClr val="4B5563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343" name="Google Shape;343;p19"/>
            <p:cNvGrpSpPr/>
            <p:nvPr/>
          </p:nvGrpSpPr>
          <p:grpSpPr>
            <a:xfrm>
              <a:off x="4267200" y="266700"/>
              <a:ext cx="3962400" cy="1181100"/>
              <a:chOff x="0" y="0"/>
              <a:chExt cx="3962400" cy="1181100"/>
            </a:xfrm>
          </p:grpSpPr>
          <p:sp>
            <p:nvSpPr>
              <p:cNvPr id="344" name="Google Shape;344;p19"/>
              <p:cNvSpPr/>
              <p:nvPr/>
            </p:nvSpPr>
            <p:spPr>
              <a:xfrm>
                <a:off x="0" y="0"/>
                <a:ext cx="3962400" cy="1181100"/>
              </a:xfrm>
              <a:prstGeom prst="roundRect">
                <a:avLst>
                  <a:gd fmla="val 6451" name="adj"/>
                </a:avLst>
              </a:prstGeom>
              <a:solidFill>
                <a:srgbClr val="F9FAFB"/>
              </a:solidFill>
              <a:ln cap="flat" cmpd="sng" w="9525">
                <a:solidFill>
                  <a:srgbClr val="E5E7E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5" name="Google Shape;345;p19"/>
              <p:cNvSpPr txBox="1"/>
              <p:nvPr/>
            </p:nvSpPr>
            <p:spPr>
              <a:xfrm>
                <a:off x="190500" y="152400"/>
                <a:ext cx="35814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050">
                    <a:solidFill>
                      <a:srgbClr val="111827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80 Recruiter-Minutes Saved Per Run</a:t>
                </a:r>
                <a:endParaRPr b="0" sz="1050">
                  <a:solidFill>
                    <a:srgbClr val="111827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  <p:sp>
            <p:nvSpPr>
              <p:cNvPr id="346" name="Google Shape;346;p19"/>
              <p:cNvSpPr txBox="1"/>
              <p:nvPr/>
            </p:nvSpPr>
            <p:spPr>
              <a:xfrm>
                <a:off x="190500" y="419100"/>
                <a:ext cx="3581400" cy="609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050">
                    <a:solidFill>
                      <a:srgbClr val="4B5563"/>
                    </a:solidFill>
                    <a:latin typeface="Inter"/>
                    <a:ea typeface="Inter"/>
                    <a:cs typeface="Inter"/>
                    <a:sym typeface="Inter"/>
                  </a:rPr>
                  <a:t>In a single run of 4 candidates, Lili saves about 80 recruiter-minutes in batch processing, as detailed directly in Lili's performance report.</a:t>
                </a:r>
                <a:endParaRPr b="0" sz="1050">
                  <a:solidFill>
                    <a:srgbClr val="4B5563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sp>
        <p:nvSpPr>
          <p:cNvPr id="347" name="TextBox 346"/>
          <p:cNvSpPr txBox="1"/>
          <p:nvPr/>
        </p:nvSpPr>
        <p:spPr>
          <a:xfrm>
            <a:off x="457200" y="4640000"/>
            <a:ext cx="82296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1">
                <a:solidFill>
                  <a:srgbClr val="7C3AED"/>
                </a:solidFill>
                <a:latin typeface="Inter"/>
              </a:rPr>
              <a:t>Works: live agent + 13 tests  ·  Time: ~30 h saved per role  ·  Cost: ~$750 per role, $0/mo stack  ·  Revenue: more placements + rediscovery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1" name="Google Shape;351;p20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352" name="Google Shape;352;p20"/>
            <p:cNvSpPr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53" name="Google Shape;353;p20"/>
            <p:cNvGrpSpPr/>
            <p:nvPr/>
          </p:nvGrpSpPr>
          <p:grpSpPr>
            <a:xfrm>
              <a:off x="8458200" y="457200"/>
              <a:ext cx="228600" cy="228600"/>
              <a:chOff x="0" y="0"/>
              <a:chExt cx="228600" cy="228600"/>
            </a:xfrm>
          </p:grpSpPr>
          <p:sp>
            <p:nvSpPr>
              <p:cNvPr id="354" name="Google Shape;354;p20"/>
              <p:cNvSpPr/>
              <p:nvPr/>
            </p:nvSpPr>
            <p:spPr>
              <a:xfrm>
                <a:off x="0" y="0"/>
                <a:ext cx="228600" cy="228600"/>
              </a:xfrm>
              <a:prstGeom prst="roundRect">
                <a:avLst>
                  <a:gd fmla="val 25000" name="adj"/>
                </a:avLst>
              </a:prstGeom>
              <a:solidFill>
                <a:srgbClr val="7C3AED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5" name="Google Shape;355;p20"/>
              <p:cNvSpPr/>
              <p:nvPr/>
            </p:nvSpPr>
            <p:spPr>
              <a:xfrm>
                <a:off x="76200" y="66675"/>
                <a:ext cx="76200" cy="95400"/>
              </a:xfrm>
              <a:custGeom>
                <a:rect b="b" l="l" r="r" t="t"/>
                <a:pathLst>
                  <a:path extrusionOk="0" h="120000" w="120000">
                    <a:moveTo>
                      <a:pt x="0" y="0"/>
                    </a:moveTo>
                    <a:lnTo>
                      <a:pt x="0" y="120000"/>
                    </a:lnTo>
                    <a:lnTo>
                      <a:pt x="120000" y="120000"/>
                    </a:lnTo>
                  </a:path>
                </a:pathLst>
              </a:custGeom>
              <a:solidFill>
                <a:srgbClr val="000000">
                  <a:alpha val="0"/>
                </a:srgbClr>
              </a:solidFill>
              <a:ln cap="rnd" cmpd="sng" w="23825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6" name="Google Shape;356;p20"/>
              <p:cNvSpPr/>
              <p:nvPr/>
            </p:nvSpPr>
            <p:spPr>
              <a:xfrm>
                <a:off x="138113" y="147638"/>
                <a:ext cx="28500" cy="285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cxnSp>
          <p:nvCxnSpPr>
            <p:cNvPr id="357" name="Google Shape;357;p20"/>
            <p:cNvCxnSpPr/>
            <p:nvPr/>
          </p:nvCxnSpPr>
          <p:spPr>
            <a:xfrm>
              <a:off x="457200" y="1143000"/>
              <a:ext cx="82296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F3F4F6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358" name="Google Shape;358;p20"/>
          <p:cNvGrpSpPr/>
          <p:nvPr/>
        </p:nvGrpSpPr>
        <p:grpSpPr>
          <a:xfrm>
            <a:off x="457200" y="381000"/>
            <a:ext cx="7620000" cy="657300"/>
            <a:chOff x="0" y="0"/>
            <a:chExt cx="7620000" cy="657300"/>
          </a:xfrm>
        </p:grpSpPr>
        <p:sp>
          <p:nvSpPr>
            <p:cNvPr id="359" name="Google Shape;359;p20"/>
            <p:cNvSpPr txBox="1"/>
            <p:nvPr/>
          </p:nvSpPr>
          <p:spPr>
            <a:xfrm>
              <a:off x="0" y="0"/>
              <a:ext cx="7620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750">
                  <a:solidFill>
                    <a:srgbClr val="7C3AED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COST ARCHITECTURE &amp; ROI</a:t>
              </a:r>
              <a:endParaRPr b="0" sz="750">
                <a:solidFill>
                  <a:srgbClr val="7C3AED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sp>
          <p:nvSpPr>
            <p:cNvPr id="360" name="Google Shape;360;p20"/>
            <p:cNvSpPr txBox="1"/>
            <p:nvPr/>
          </p:nvSpPr>
          <p:spPr>
            <a:xfrm>
              <a:off x="0" y="228600"/>
              <a:ext cx="76200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400">
                  <a:solidFill>
                    <a:srgbClr val="111827"/>
                  </a:solidFill>
                  <a:latin typeface="Inter"/>
                  <a:ea typeface="Inter"/>
                  <a:cs typeface="Inter"/>
                  <a:sym typeface="Inter"/>
                </a:rPr>
                <a:t>Zero-Cost Tech Stack with High Financial Impact</a:t>
              </a:r>
              <a:endParaRPr b="1" sz="2400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361" name="Google Shape;361;p20"/>
          <p:cNvGrpSpPr/>
          <p:nvPr/>
        </p:nvGrpSpPr>
        <p:grpSpPr>
          <a:xfrm>
            <a:off x="457200" y="1371600"/>
            <a:ext cx="4000500" cy="2724150"/>
            <a:chOff x="0" y="0"/>
            <a:chExt cx="4000500" cy="2724150"/>
          </a:xfrm>
        </p:grpSpPr>
        <p:sp>
          <p:nvSpPr>
            <p:cNvPr id="362" name="Google Shape;362;p20"/>
            <p:cNvSpPr txBox="1"/>
            <p:nvPr/>
          </p:nvSpPr>
          <p:spPr>
            <a:xfrm>
              <a:off x="0" y="0"/>
              <a:ext cx="4000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4B5563"/>
                  </a:solidFill>
                  <a:latin typeface="Inter"/>
                  <a:ea typeface="Inter"/>
                  <a:cs typeface="Inter"/>
                  <a:sym typeface="Inter"/>
                </a:rPr>
                <a:t>Lili runs on a completely free tech stack totaling </a:t>
              </a:r>
              <a:r>
                <a:rPr b="0" lang="en" sz="1050">
                  <a:solidFill>
                    <a:srgbClr val="11182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$0/month</a:t>
              </a:r>
              <a:r>
                <a:rPr b="0" lang="en" sz="1050">
                  <a:solidFill>
                    <a:srgbClr val="4B5563"/>
                  </a:solidFill>
                  <a:latin typeface="Inter"/>
                  <a:ea typeface="Inter"/>
                  <a:cs typeface="Inter"/>
                  <a:sym typeface="Inter"/>
                </a:rPr>
                <a:t>, utilizing generous free tiers and hackathon credits to replace expensive enterprise software.</a:t>
              </a:r>
              <a:endParaRPr b="0" sz="105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363" name="Google Shape;363;p20"/>
            <p:cNvGrpSpPr/>
            <p:nvPr/>
          </p:nvGrpSpPr>
          <p:grpSpPr>
            <a:xfrm>
              <a:off x="0" y="666750"/>
              <a:ext cx="4000500" cy="457200"/>
              <a:chOff x="0" y="0"/>
              <a:chExt cx="4000500" cy="457200"/>
            </a:xfrm>
          </p:grpSpPr>
          <p:sp>
            <p:nvSpPr>
              <p:cNvPr id="364" name="Google Shape;364;p20"/>
              <p:cNvSpPr/>
              <p:nvPr/>
            </p:nvSpPr>
            <p:spPr>
              <a:xfrm>
                <a:off x="0" y="0"/>
                <a:ext cx="4000500" cy="457200"/>
              </a:xfrm>
              <a:prstGeom prst="roundRect">
                <a:avLst>
                  <a:gd fmla="val 16666" name="adj"/>
                </a:avLst>
              </a:prstGeom>
              <a:solidFill>
                <a:srgbClr val="F9FAFB"/>
              </a:solidFill>
              <a:ln cap="flat" cmpd="sng" w="9525">
                <a:solidFill>
                  <a:srgbClr val="E5E7E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5" name="Google Shape;365;p20"/>
              <p:cNvSpPr/>
              <p:nvPr/>
            </p:nvSpPr>
            <p:spPr>
              <a:xfrm>
                <a:off x="114300" y="114300"/>
                <a:ext cx="609600" cy="228600"/>
              </a:xfrm>
              <a:prstGeom prst="roundRect">
                <a:avLst>
                  <a:gd fmla="val 50000" name="adj"/>
                </a:avLst>
              </a:prstGeom>
              <a:solidFill>
                <a:srgbClr val="10B981">
                  <a:alpha val="1500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6" name="Google Shape;366;p20"/>
              <p:cNvSpPr txBox="1"/>
              <p:nvPr/>
            </p:nvSpPr>
            <p:spPr>
              <a:xfrm>
                <a:off x="114300" y="114300"/>
                <a:ext cx="6096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750">
                    <a:solidFill>
                      <a:srgbClr val="10B981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$0 / MO</a:t>
                </a:r>
                <a:endParaRPr b="0" sz="750">
                  <a:solidFill>
                    <a:srgbClr val="10B981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  <p:sp>
            <p:nvSpPr>
              <p:cNvPr id="367" name="Google Shape;367;p20"/>
              <p:cNvSpPr txBox="1"/>
              <p:nvPr/>
            </p:nvSpPr>
            <p:spPr>
              <a:xfrm>
                <a:off x="838200" y="133350"/>
                <a:ext cx="30099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050">
                    <a:solidFill>
                      <a:srgbClr val="111827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Vercel </a:t>
                </a:r>
                <a:r>
                  <a:rPr b="0" lang="en" sz="1050">
                    <a:solidFill>
                      <a:srgbClr val="6B7280"/>
                    </a:solidFill>
                    <a:latin typeface="Inter"/>
                    <a:ea typeface="Inter"/>
                    <a:cs typeface="Inter"/>
                    <a:sym typeface="Inter"/>
                  </a:rPr>
                  <a:t>— Dashboard hosting</a:t>
                </a:r>
                <a:endParaRPr b="0" sz="1050">
                  <a:solidFill>
                    <a:srgbClr val="111827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</p:grpSp>
        <p:grpSp>
          <p:nvGrpSpPr>
            <p:cNvPr id="368" name="Google Shape;368;p20"/>
            <p:cNvGrpSpPr/>
            <p:nvPr/>
          </p:nvGrpSpPr>
          <p:grpSpPr>
            <a:xfrm>
              <a:off x="0" y="1200150"/>
              <a:ext cx="4000500" cy="457200"/>
              <a:chOff x="0" y="0"/>
              <a:chExt cx="4000500" cy="457200"/>
            </a:xfrm>
          </p:grpSpPr>
          <p:sp>
            <p:nvSpPr>
              <p:cNvPr id="369" name="Google Shape;369;p20"/>
              <p:cNvSpPr/>
              <p:nvPr/>
            </p:nvSpPr>
            <p:spPr>
              <a:xfrm>
                <a:off x="0" y="0"/>
                <a:ext cx="4000500" cy="457200"/>
              </a:xfrm>
              <a:prstGeom prst="roundRect">
                <a:avLst>
                  <a:gd fmla="val 16666" name="adj"/>
                </a:avLst>
              </a:prstGeom>
              <a:solidFill>
                <a:srgbClr val="F9FAFB"/>
              </a:solidFill>
              <a:ln cap="flat" cmpd="sng" w="9525">
                <a:solidFill>
                  <a:srgbClr val="E5E7E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0" name="Google Shape;370;p20"/>
              <p:cNvSpPr/>
              <p:nvPr/>
            </p:nvSpPr>
            <p:spPr>
              <a:xfrm>
                <a:off x="114300" y="114300"/>
                <a:ext cx="609600" cy="228600"/>
              </a:xfrm>
              <a:prstGeom prst="roundRect">
                <a:avLst>
                  <a:gd fmla="val 50000" name="adj"/>
                </a:avLst>
              </a:prstGeom>
              <a:solidFill>
                <a:srgbClr val="10B981">
                  <a:alpha val="1500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1" name="Google Shape;371;p20"/>
              <p:cNvSpPr txBox="1"/>
              <p:nvPr/>
            </p:nvSpPr>
            <p:spPr>
              <a:xfrm>
                <a:off x="114300" y="114300"/>
                <a:ext cx="6096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750">
                    <a:solidFill>
                      <a:srgbClr val="10B981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$0 / MO</a:t>
                </a:r>
                <a:endParaRPr b="0" sz="750">
                  <a:solidFill>
                    <a:srgbClr val="10B981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  <p:sp>
            <p:nvSpPr>
              <p:cNvPr id="372" name="Google Shape;372;p20"/>
              <p:cNvSpPr txBox="1"/>
              <p:nvPr/>
            </p:nvSpPr>
            <p:spPr>
              <a:xfrm>
                <a:off x="838200" y="133350"/>
                <a:ext cx="30099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050">
                    <a:solidFill>
                      <a:srgbClr val="111827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Supabase </a:t>
                </a:r>
                <a:r>
                  <a:rPr b="0" lang="en" sz="1050">
                    <a:solidFill>
                      <a:srgbClr val="6B7280"/>
                    </a:solidFill>
                    <a:latin typeface="Inter"/>
                    <a:ea typeface="Inter"/>
                    <a:cs typeface="Inter"/>
                    <a:sym typeface="Inter"/>
                  </a:rPr>
                  <a:t>— Database &amp; live sync</a:t>
                </a:r>
                <a:endParaRPr b="0" sz="1050">
                  <a:solidFill>
                    <a:srgbClr val="111827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</p:grpSp>
        <p:grpSp>
          <p:nvGrpSpPr>
            <p:cNvPr id="373" name="Google Shape;373;p20"/>
            <p:cNvGrpSpPr/>
            <p:nvPr/>
          </p:nvGrpSpPr>
          <p:grpSpPr>
            <a:xfrm>
              <a:off x="0" y="1733550"/>
              <a:ext cx="4000500" cy="457200"/>
              <a:chOff x="0" y="0"/>
              <a:chExt cx="4000500" cy="457200"/>
            </a:xfrm>
          </p:grpSpPr>
          <p:sp>
            <p:nvSpPr>
              <p:cNvPr id="374" name="Google Shape;374;p20"/>
              <p:cNvSpPr/>
              <p:nvPr/>
            </p:nvSpPr>
            <p:spPr>
              <a:xfrm>
                <a:off x="0" y="0"/>
                <a:ext cx="4000500" cy="457200"/>
              </a:xfrm>
              <a:prstGeom prst="roundRect">
                <a:avLst>
                  <a:gd fmla="val 16666" name="adj"/>
                </a:avLst>
              </a:prstGeom>
              <a:solidFill>
                <a:srgbClr val="F9FAFB"/>
              </a:solidFill>
              <a:ln cap="flat" cmpd="sng" w="9525">
                <a:solidFill>
                  <a:srgbClr val="E5E7E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5" name="Google Shape;375;p20"/>
              <p:cNvSpPr/>
              <p:nvPr/>
            </p:nvSpPr>
            <p:spPr>
              <a:xfrm>
                <a:off x="114300" y="114300"/>
                <a:ext cx="609600" cy="228600"/>
              </a:xfrm>
              <a:prstGeom prst="roundRect">
                <a:avLst>
                  <a:gd fmla="val 50000" name="adj"/>
                </a:avLst>
              </a:prstGeom>
              <a:solidFill>
                <a:srgbClr val="10B981">
                  <a:alpha val="1500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6" name="Google Shape;376;p20"/>
              <p:cNvSpPr txBox="1"/>
              <p:nvPr/>
            </p:nvSpPr>
            <p:spPr>
              <a:xfrm>
                <a:off x="114300" y="114300"/>
                <a:ext cx="6096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750">
                    <a:solidFill>
                      <a:srgbClr val="10B981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$0 / MO</a:t>
                </a:r>
                <a:endParaRPr b="0" sz="750">
                  <a:solidFill>
                    <a:srgbClr val="10B981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  <p:sp>
            <p:nvSpPr>
              <p:cNvPr id="377" name="Google Shape;377;p20"/>
              <p:cNvSpPr txBox="1"/>
              <p:nvPr/>
            </p:nvSpPr>
            <p:spPr>
              <a:xfrm>
                <a:off x="838200" y="133350"/>
                <a:ext cx="30099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050">
                    <a:solidFill>
                      <a:srgbClr val="111827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Brevo </a:t>
                </a:r>
                <a:r>
                  <a:rPr b="0" lang="en" sz="1050">
                    <a:solidFill>
                      <a:srgbClr val="6B7280"/>
                    </a:solidFill>
                    <a:latin typeface="Inter"/>
                    <a:ea typeface="Inter"/>
                    <a:cs typeface="Inter"/>
                    <a:sym typeface="Inter"/>
                  </a:rPr>
                  <a:t>— Delivery (up to 300 emails/day)</a:t>
                </a:r>
                <a:endParaRPr b="0" sz="1050">
                  <a:solidFill>
                    <a:srgbClr val="111827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</p:grpSp>
        <p:grpSp>
          <p:nvGrpSpPr>
            <p:cNvPr id="378" name="Google Shape;378;p20"/>
            <p:cNvGrpSpPr/>
            <p:nvPr/>
          </p:nvGrpSpPr>
          <p:grpSpPr>
            <a:xfrm>
              <a:off x="0" y="2266950"/>
              <a:ext cx="4000500" cy="457200"/>
              <a:chOff x="0" y="0"/>
              <a:chExt cx="4000500" cy="457200"/>
            </a:xfrm>
          </p:grpSpPr>
          <p:sp>
            <p:nvSpPr>
              <p:cNvPr id="379" name="Google Shape;379;p20"/>
              <p:cNvSpPr/>
              <p:nvPr/>
            </p:nvSpPr>
            <p:spPr>
              <a:xfrm>
                <a:off x="0" y="0"/>
                <a:ext cx="4000500" cy="457200"/>
              </a:xfrm>
              <a:prstGeom prst="roundRect">
                <a:avLst>
                  <a:gd fmla="val 16666" name="adj"/>
                </a:avLst>
              </a:prstGeom>
              <a:solidFill>
                <a:srgbClr val="F9FAFB"/>
              </a:solidFill>
              <a:ln cap="flat" cmpd="sng" w="9525">
                <a:solidFill>
                  <a:srgbClr val="E5E7E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0" name="Google Shape;380;p20"/>
              <p:cNvSpPr/>
              <p:nvPr/>
            </p:nvSpPr>
            <p:spPr>
              <a:xfrm>
                <a:off x="114300" y="114300"/>
                <a:ext cx="609600" cy="228600"/>
              </a:xfrm>
              <a:prstGeom prst="roundRect">
                <a:avLst>
                  <a:gd fmla="val 50000" name="adj"/>
                </a:avLst>
              </a:prstGeom>
              <a:solidFill>
                <a:srgbClr val="10B981">
                  <a:alpha val="1500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1" name="Google Shape;381;p20"/>
              <p:cNvSpPr txBox="1"/>
              <p:nvPr/>
            </p:nvSpPr>
            <p:spPr>
              <a:xfrm>
                <a:off x="114300" y="114300"/>
                <a:ext cx="6096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750">
                    <a:solidFill>
                      <a:srgbClr val="10B981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$0 / MO</a:t>
                </a:r>
                <a:endParaRPr b="0" sz="750">
                  <a:solidFill>
                    <a:srgbClr val="10B981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  <p:sp>
            <p:nvSpPr>
              <p:cNvPr id="382" name="Google Shape;382;p20"/>
              <p:cNvSpPr txBox="1"/>
              <p:nvPr/>
            </p:nvSpPr>
            <p:spPr>
              <a:xfrm>
                <a:off x="838200" y="133350"/>
                <a:ext cx="30099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050">
                    <a:solidFill>
                      <a:srgbClr val="111827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Wesam.ai </a:t>
                </a:r>
                <a:r>
                  <a:rPr b="0" lang="en" sz="1050">
                    <a:solidFill>
                      <a:srgbClr val="6B7280"/>
                    </a:solidFill>
                    <a:latin typeface="Inter"/>
                    <a:ea typeface="Inter"/>
                    <a:cs typeface="Inter"/>
                    <a:sym typeface="Inter"/>
                  </a:rPr>
                  <a:t>— Agent execution &amp; credits</a:t>
                </a:r>
                <a:endParaRPr b="0" sz="1050">
                  <a:solidFill>
                    <a:srgbClr val="111827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</p:grpSp>
      </p:grpSp>
      <p:grpSp>
        <p:nvGrpSpPr>
          <p:cNvPr id="383" name="Google Shape;383;p20"/>
          <p:cNvGrpSpPr/>
          <p:nvPr/>
        </p:nvGrpSpPr>
        <p:grpSpPr>
          <a:xfrm>
            <a:off x="4829175" y="1362075"/>
            <a:ext cx="3867300" cy="2733825"/>
            <a:chOff x="-9525" y="-9525"/>
            <a:chExt cx="3867300" cy="2733825"/>
          </a:xfrm>
        </p:grpSpPr>
        <p:grpSp>
          <p:nvGrpSpPr>
            <p:cNvPr id="384" name="Google Shape;384;p20"/>
            <p:cNvGrpSpPr/>
            <p:nvPr/>
          </p:nvGrpSpPr>
          <p:grpSpPr>
            <a:xfrm>
              <a:off x="-9525" y="-9525"/>
              <a:ext cx="3867300" cy="1924200"/>
              <a:chOff x="-9525" y="-9525"/>
              <a:chExt cx="3867300" cy="1924200"/>
            </a:xfrm>
          </p:grpSpPr>
          <p:pic>
            <p:nvPicPr>
              <p:cNvPr id="385" name="Google Shape;385;p20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-9525" y="-9525"/>
                <a:ext cx="3867300" cy="19242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86" name="Google Shape;386;p20"/>
              <p:cNvSpPr txBox="1"/>
              <p:nvPr/>
            </p:nvSpPr>
            <p:spPr>
              <a:xfrm>
                <a:off x="266700" y="228600"/>
                <a:ext cx="33147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750">
                    <a:solidFill>
                      <a:srgbClr val="7C3AED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TOTAL MONTHLY SAVINGS</a:t>
                </a:r>
                <a:endParaRPr b="0" sz="750">
                  <a:solidFill>
                    <a:srgbClr val="7C3AED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  <p:sp>
            <p:nvSpPr>
              <p:cNvPr id="387" name="Google Shape;387;p20"/>
              <p:cNvSpPr txBox="1"/>
              <p:nvPr/>
            </p:nvSpPr>
            <p:spPr>
              <a:xfrm>
                <a:off x="266700" y="457200"/>
                <a:ext cx="3314700" cy="523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3053">
                    <a:solidFill>
                      <a:srgbClr val="7C3AED"/>
                    </a:solidFill>
                    <a:latin typeface="Inter ExtraBold"/>
                    <a:ea typeface="Inter ExtraBold"/>
                    <a:cs typeface="Inter ExtraBold"/>
                    <a:sym typeface="Inter ExtraBold"/>
                  </a:rPr>
                  <a:t>$1,000–$1,650</a:t>
                </a:r>
                <a:r>
                  <a:rPr b="0" lang="en" sz="1388">
                    <a:solidFill>
                      <a:srgbClr val="4B5563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/mo</a:t>
                </a:r>
                <a:endParaRPr b="0" sz="3053">
                  <a:solidFill>
                    <a:srgbClr val="7C3AED"/>
                  </a:solidFill>
                  <a:latin typeface="Inter ExtraBold"/>
                  <a:ea typeface="Inter ExtraBold"/>
                  <a:cs typeface="Inter ExtraBold"/>
                  <a:sym typeface="Inter ExtraBold"/>
                </a:endParaRPr>
              </a:p>
            </p:txBody>
          </p:sp>
          <p:cxnSp>
            <p:nvCxnSpPr>
              <p:cNvPr id="388" name="Google Shape;388;p20"/>
              <p:cNvCxnSpPr/>
              <p:nvPr/>
            </p:nvCxnSpPr>
            <p:spPr>
              <a:xfrm>
                <a:off x="266700" y="1066800"/>
                <a:ext cx="3314700" cy="0"/>
              </a:xfrm>
              <a:prstGeom prst="straightConnector1">
                <a:avLst/>
              </a:prstGeom>
              <a:solidFill>
                <a:srgbClr val="FFFFFF"/>
              </a:solidFill>
              <a:ln cap="flat" cmpd="sng" w="9525">
                <a:solidFill>
                  <a:srgbClr val="F3F4F6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389" name="Google Shape;389;p20"/>
              <p:cNvSpPr txBox="1"/>
              <p:nvPr/>
            </p:nvSpPr>
            <p:spPr>
              <a:xfrm>
                <a:off x="266700" y="1181100"/>
                <a:ext cx="3314700" cy="57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050">
                    <a:solidFill>
                      <a:srgbClr val="111827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Direct Labor Savings + ATS License</a:t>
                </a:r>
                <a:endParaRPr b="0" sz="1050">
                  <a:solidFill>
                    <a:srgbClr val="111827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0" lang="en" sz="975">
                    <a:solidFill>
                      <a:srgbClr val="4B5563"/>
                    </a:solidFill>
                    <a:latin typeface="Inter"/>
                    <a:ea typeface="Inter"/>
                    <a:cs typeface="Inter"/>
                    <a:sym typeface="Inter"/>
                  </a:rPr>
                  <a:t>Replaces ~66 hours/month of manual screening valued at $15–$25/hour, plus any ATS subscription you no longer need.</a:t>
                </a:r>
                <a:endParaRPr b="0" sz="975">
                  <a:solidFill>
                    <a:srgbClr val="4B5563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390" name="Google Shape;390;p20"/>
            <p:cNvGrpSpPr/>
            <p:nvPr/>
          </p:nvGrpSpPr>
          <p:grpSpPr>
            <a:xfrm>
              <a:off x="0" y="2057400"/>
              <a:ext cx="3848100" cy="666900"/>
              <a:chOff x="0" y="0"/>
              <a:chExt cx="3848100" cy="666900"/>
            </a:xfrm>
          </p:grpSpPr>
          <p:sp>
            <p:nvSpPr>
              <p:cNvPr id="391" name="Google Shape;391;p20"/>
              <p:cNvSpPr/>
              <p:nvPr/>
            </p:nvSpPr>
            <p:spPr>
              <a:xfrm>
                <a:off x="0" y="0"/>
                <a:ext cx="3848100" cy="666900"/>
              </a:xfrm>
              <a:prstGeom prst="roundRect">
                <a:avLst>
                  <a:gd fmla="val 11428" name="adj"/>
                </a:avLst>
              </a:prstGeom>
              <a:solidFill>
                <a:srgbClr val="F9FAFB"/>
              </a:solidFill>
              <a:ln cap="flat" cmpd="sng" w="9525">
                <a:solidFill>
                  <a:srgbClr val="E5E7E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392" name="Google Shape;392;p20"/>
              <p:cNvGrpSpPr/>
              <p:nvPr/>
            </p:nvGrpSpPr>
            <p:grpSpPr>
              <a:xfrm>
                <a:off x="228600" y="142875"/>
                <a:ext cx="3429000" cy="381000"/>
                <a:chOff x="38100" y="0"/>
                <a:chExt cx="3429000" cy="381000"/>
              </a:xfrm>
            </p:grpSpPr>
            <p:sp>
              <p:nvSpPr>
                <p:cNvPr id="393" name="Google Shape;393;p20"/>
                <p:cNvSpPr/>
                <p:nvPr/>
              </p:nvSpPr>
              <p:spPr>
                <a:xfrm>
                  <a:off x="38100" y="38100"/>
                  <a:ext cx="304800" cy="304800"/>
                </a:xfrm>
                <a:prstGeom prst="ellipse">
                  <a:avLst/>
                </a:prstGeom>
                <a:solidFill>
                  <a:srgbClr val="7C3AED">
                    <a:alpha val="10000"/>
                  </a:srgbClr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94" name="Google Shape;394;p20"/>
                <p:cNvSpPr/>
                <p:nvPr/>
              </p:nvSpPr>
              <p:spPr>
                <a:xfrm>
                  <a:off x="133350" y="152400"/>
                  <a:ext cx="114300" cy="76200"/>
                </a:xfrm>
                <a:custGeom>
                  <a:rect b="b" l="l" r="r" t="t"/>
                  <a:pathLst>
                    <a:path extrusionOk="0" h="120000" w="120000">
                      <a:moveTo>
                        <a:pt x="0" y="60000"/>
                      </a:moveTo>
                      <a:lnTo>
                        <a:pt x="40000" y="120000"/>
                      </a:lnTo>
                      <a:lnTo>
                        <a:pt x="120000" y="0"/>
                      </a:lnTo>
                    </a:path>
                  </a:pathLst>
                </a:custGeom>
                <a:solidFill>
                  <a:srgbClr val="000000">
                    <a:alpha val="0"/>
                  </a:srgbClr>
                </a:solidFill>
                <a:ln cap="rnd" cmpd="sng" w="19050">
                  <a:solidFill>
                    <a:srgbClr val="7C3AED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95" name="Google Shape;395;p20"/>
                <p:cNvSpPr txBox="1"/>
                <p:nvPr/>
              </p:nvSpPr>
              <p:spPr>
                <a:xfrm>
                  <a:off x="457200" y="0"/>
                  <a:ext cx="3009900" cy="381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lang="en" sz="893">
                      <a:solidFill>
                        <a:srgbClr val="111827"/>
                      </a:solidFill>
                      <a:latin typeface="Inter SemiBold"/>
                      <a:ea typeface="Inter SemiBold"/>
                      <a:cs typeface="Inter SemiBold"/>
                      <a:sym typeface="Inter SemiBold"/>
                    </a:rPr>
                    <a:t>66 Hours Manual Labor Eliminated</a:t>
                  </a:r>
                  <a:endParaRPr b="0" sz="893">
                    <a:solidFill>
                      <a:srgbClr val="111827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endParaRPr>
                </a:p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lang="en" sz="765">
                      <a:solidFill>
                        <a:srgbClr val="6B7280"/>
                      </a:solidFill>
                      <a:latin typeface="Inter"/>
                      <a:ea typeface="Inter"/>
                      <a:cs typeface="Inter"/>
                      <a:sym typeface="Inter"/>
                    </a:rPr>
                    <a:t>Automates candidate screening, ranking, and notification delivery.</a:t>
                  </a:r>
                  <a:endParaRPr b="0" sz="765">
                    <a:solidFill>
                      <a:srgbClr val="6B7280"/>
                    </a:solidFill>
                    <a:latin typeface="Inter"/>
                    <a:ea typeface="Inter"/>
                    <a:cs typeface="Inter"/>
                    <a:sym typeface="Inter"/>
                  </a:endParaRPr>
                </a:p>
              </p:txBody>
            </p:sp>
          </p:grpSp>
        </p:grp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0" name="Google Shape;400;p21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401" name="Google Shape;401;p21"/>
            <p:cNvSpPr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02" name="Google Shape;402;p21"/>
            <p:cNvGrpSpPr/>
            <p:nvPr/>
          </p:nvGrpSpPr>
          <p:grpSpPr>
            <a:xfrm>
              <a:off x="8458200" y="457200"/>
              <a:ext cx="228600" cy="228600"/>
              <a:chOff x="0" y="0"/>
              <a:chExt cx="228600" cy="228600"/>
            </a:xfrm>
          </p:grpSpPr>
          <p:sp>
            <p:nvSpPr>
              <p:cNvPr id="403" name="Google Shape;403;p21"/>
              <p:cNvSpPr/>
              <p:nvPr/>
            </p:nvSpPr>
            <p:spPr>
              <a:xfrm>
                <a:off x="0" y="0"/>
                <a:ext cx="228600" cy="228600"/>
              </a:xfrm>
              <a:prstGeom prst="roundRect">
                <a:avLst>
                  <a:gd fmla="val 25000" name="adj"/>
                </a:avLst>
              </a:prstGeom>
              <a:solidFill>
                <a:srgbClr val="7C3AED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4" name="Google Shape;404;p21"/>
              <p:cNvSpPr/>
              <p:nvPr/>
            </p:nvSpPr>
            <p:spPr>
              <a:xfrm>
                <a:off x="76200" y="66675"/>
                <a:ext cx="76200" cy="95400"/>
              </a:xfrm>
              <a:custGeom>
                <a:rect b="b" l="l" r="r" t="t"/>
                <a:pathLst>
                  <a:path extrusionOk="0" h="120000" w="120000">
                    <a:moveTo>
                      <a:pt x="0" y="0"/>
                    </a:moveTo>
                    <a:lnTo>
                      <a:pt x="0" y="120000"/>
                    </a:lnTo>
                    <a:lnTo>
                      <a:pt x="120000" y="120000"/>
                    </a:lnTo>
                  </a:path>
                </a:pathLst>
              </a:custGeom>
              <a:solidFill>
                <a:srgbClr val="000000">
                  <a:alpha val="0"/>
                </a:srgbClr>
              </a:solidFill>
              <a:ln cap="rnd" cmpd="sng" w="23825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5" name="Google Shape;405;p21"/>
              <p:cNvSpPr/>
              <p:nvPr/>
            </p:nvSpPr>
            <p:spPr>
              <a:xfrm>
                <a:off x="138113" y="147638"/>
                <a:ext cx="28500" cy="285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cxnSp>
          <p:nvCxnSpPr>
            <p:cNvPr id="406" name="Google Shape;406;p21"/>
            <p:cNvCxnSpPr/>
            <p:nvPr/>
          </p:nvCxnSpPr>
          <p:spPr>
            <a:xfrm>
              <a:off x="457200" y="1143000"/>
              <a:ext cx="82296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F3F4F6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407" name="Google Shape;407;p21"/>
          <p:cNvGrpSpPr/>
          <p:nvPr/>
        </p:nvGrpSpPr>
        <p:grpSpPr>
          <a:xfrm>
            <a:off x="457200" y="381000"/>
            <a:ext cx="7620000" cy="609600"/>
            <a:chOff x="0" y="0"/>
            <a:chExt cx="7620000" cy="609600"/>
          </a:xfrm>
        </p:grpSpPr>
        <p:sp>
          <p:nvSpPr>
            <p:cNvPr id="408" name="Google Shape;408;p21"/>
            <p:cNvSpPr txBox="1"/>
            <p:nvPr/>
          </p:nvSpPr>
          <p:spPr>
            <a:xfrm>
              <a:off x="0" y="0"/>
              <a:ext cx="7620000" cy="17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750">
                  <a:solidFill>
                    <a:srgbClr val="7C3AED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BUSINESS IMPACT</a:t>
              </a:r>
              <a:endParaRPr b="0" sz="750">
                <a:solidFill>
                  <a:srgbClr val="7C3AED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sp>
          <p:nvSpPr>
            <p:cNvPr id="409" name="Google Shape;409;p21"/>
            <p:cNvSpPr txBox="1"/>
            <p:nvPr/>
          </p:nvSpPr>
          <p:spPr>
            <a:xfrm>
              <a:off x="0" y="228600"/>
              <a:ext cx="7620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400">
                  <a:solidFill>
                    <a:srgbClr val="111827"/>
                  </a:solidFill>
                  <a:latin typeface="Inter"/>
                  <a:ea typeface="Inter"/>
                  <a:cs typeface="Inter"/>
                  <a:sym typeface="Inter"/>
                </a:rPr>
                <a:t>Faster, Fairer Hiring Generates Direct Revenue</a:t>
              </a:r>
              <a:endParaRPr b="1" sz="2400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410" name="Google Shape;410;p21"/>
          <p:cNvGrpSpPr/>
          <p:nvPr/>
        </p:nvGrpSpPr>
        <p:grpSpPr>
          <a:xfrm>
            <a:off x="457200" y="1428750"/>
            <a:ext cx="8229600" cy="3238500"/>
            <a:chOff x="0" y="0"/>
            <a:chExt cx="8229600" cy="3238500"/>
          </a:xfrm>
        </p:grpSpPr>
        <p:grpSp>
          <p:nvGrpSpPr>
            <p:cNvPr id="411" name="Google Shape;411;p21"/>
            <p:cNvGrpSpPr/>
            <p:nvPr/>
          </p:nvGrpSpPr>
          <p:grpSpPr>
            <a:xfrm>
              <a:off x="0" y="0"/>
              <a:ext cx="2552700" cy="3238500"/>
              <a:chOff x="0" y="0"/>
              <a:chExt cx="2552700" cy="3238500"/>
            </a:xfrm>
          </p:grpSpPr>
          <p:sp>
            <p:nvSpPr>
              <p:cNvPr id="412" name="Google Shape;412;p21"/>
              <p:cNvSpPr/>
              <p:nvPr/>
            </p:nvSpPr>
            <p:spPr>
              <a:xfrm>
                <a:off x="0" y="0"/>
                <a:ext cx="2552700" cy="3238500"/>
              </a:xfrm>
              <a:prstGeom prst="roundRect">
                <a:avLst>
                  <a:gd fmla="val 2985" name="adj"/>
                </a:avLst>
              </a:prstGeom>
              <a:solidFill>
                <a:srgbClr val="F9FAFB"/>
              </a:solidFill>
              <a:ln cap="flat" cmpd="sng" w="9525">
                <a:solidFill>
                  <a:srgbClr val="E5E7E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413" name="Google Shape;413;p21"/>
              <p:cNvGrpSpPr/>
              <p:nvPr/>
            </p:nvGrpSpPr>
            <p:grpSpPr>
              <a:xfrm>
                <a:off x="247650" y="247650"/>
                <a:ext cx="2076450" cy="190500"/>
                <a:chOff x="19050" y="19050"/>
                <a:chExt cx="2076450" cy="190500"/>
              </a:xfrm>
            </p:grpSpPr>
            <p:grpSp>
              <p:nvGrpSpPr>
                <p:cNvPr id="414" name="Google Shape;414;p21"/>
                <p:cNvGrpSpPr/>
                <p:nvPr/>
              </p:nvGrpSpPr>
              <p:grpSpPr>
                <a:xfrm>
                  <a:off x="19050" y="19050"/>
                  <a:ext cx="190500" cy="190500"/>
                  <a:chOff x="19050" y="19050"/>
                  <a:chExt cx="190500" cy="190500"/>
                </a:xfrm>
              </p:grpSpPr>
              <p:sp>
                <p:nvSpPr>
                  <p:cNvPr id="415" name="Google Shape;415;p21"/>
                  <p:cNvSpPr/>
                  <p:nvPr/>
                </p:nvSpPr>
                <p:spPr>
                  <a:xfrm>
                    <a:off x="19050" y="19050"/>
                    <a:ext cx="190500" cy="190500"/>
                  </a:xfrm>
                  <a:prstGeom prst="ellipse">
                    <a:avLst/>
                  </a:prstGeom>
                  <a:solidFill>
                    <a:srgbClr val="10B981">
                      <a:alpha val="15000"/>
                    </a:srgbClr>
                  </a:solidFill>
                  <a:ln>
                    <a:noFill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16" name="Google Shape;416;p21"/>
                  <p:cNvSpPr/>
                  <p:nvPr/>
                </p:nvSpPr>
                <p:spPr>
                  <a:xfrm>
                    <a:off x="76200" y="85725"/>
                    <a:ext cx="76200" cy="57300"/>
                  </a:xfrm>
                  <a:custGeom>
                    <a:rect b="b" l="l" r="r" t="t"/>
                    <a:pathLst>
                      <a:path extrusionOk="0" h="120000" w="120000">
                        <a:moveTo>
                          <a:pt x="0" y="60000"/>
                        </a:moveTo>
                        <a:lnTo>
                          <a:pt x="45000" y="120000"/>
                        </a:lnTo>
                        <a:lnTo>
                          <a:pt x="120000" y="0"/>
                        </a:lnTo>
                      </a:path>
                    </a:pathLst>
                  </a:custGeom>
                  <a:solidFill>
                    <a:srgbClr val="000000">
                      <a:alpha val="0"/>
                    </a:srgbClr>
                  </a:solidFill>
                  <a:ln cap="rnd" cmpd="sng" w="19050">
                    <a:solidFill>
                      <a:srgbClr val="10B98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sp>
              <p:nvSpPr>
                <p:cNvPr id="417" name="Google Shape;417;p21"/>
                <p:cNvSpPr txBox="1"/>
                <p:nvPr/>
              </p:nvSpPr>
              <p:spPr>
                <a:xfrm>
                  <a:off x="304800" y="19050"/>
                  <a:ext cx="1790700" cy="1905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lang="en" sz="750">
                      <a:solidFill>
                        <a:srgbClr val="7C3AED"/>
                      </a:solidFill>
                      <a:latin typeface="Inter SemiBold"/>
                      <a:ea typeface="Inter SemiBold"/>
                      <a:cs typeface="Inter SemiBold"/>
                      <a:sym typeface="Inter SemiBold"/>
                    </a:rPr>
                    <a:t>AGENCY SCALE</a:t>
                  </a:r>
                  <a:endParaRPr b="0" sz="750">
                    <a:solidFill>
                      <a:srgbClr val="7C3AED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endParaRPr>
                </a:p>
              </p:txBody>
            </p:sp>
          </p:grpSp>
          <p:sp>
            <p:nvSpPr>
              <p:cNvPr id="418" name="Google Shape;418;p21"/>
              <p:cNvSpPr txBox="1"/>
              <p:nvPr/>
            </p:nvSpPr>
            <p:spPr>
              <a:xfrm>
                <a:off x="228600" y="571500"/>
                <a:ext cx="20955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350">
                    <a:solidFill>
                      <a:srgbClr val="111827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Recruiting Agencies</a:t>
                </a:r>
                <a:endParaRPr b="0" sz="1350">
                  <a:solidFill>
                    <a:srgbClr val="111827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  <p:sp>
            <p:nvSpPr>
              <p:cNvPr id="419" name="Google Shape;419;p21"/>
              <p:cNvSpPr/>
              <p:nvPr/>
            </p:nvSpPr>
            <p:spPr>
              <a:xfrm>
                <a:off x="228600" y="933450"/>
                <a:ext cx="2095500" cy="647700"/>
              </a:xfrm>
              <a:prstGeom prst="roundRect">
                <a:avLst>
                  <a:gd fmla="val 8823" name="adj"/>
                </a:avLst>
              </a:prstGeom>
              <a:solidFill>
                <a:srgbClr val="7C3AED">
                  <a:alpha val="600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0" name="Google Shape;420;p21"/>
              <p:cNvSpPr txBox="1"/>
              <p:nvPr/>
            </p:nvSpPr>
            <p:spPr>
              <a:xfrm>
                <a:off x="342900" y="1009650"/>
                <a:ext cx="1866900" cy="495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800">
                    <a:solidFill>
                      <a:srgbClr val="7C3AED"/>
                    </a:solidFill>
                    <a:latin typeface="Inter"/>
                    <a:ea typeface="Inter"/>
                    <a:cs typeface="Inter"/>
                    <a:sym typeface="Inter"/>
                  </a:rPr>
                  <a:t>+1–2 Roles</a:t>
                </a:r>
                <a:endParaRPr b="1" sz="1800">
                  <a:solidFill>
                    <a:srgbClr val="7C3AED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b="0" lang="en" sz="825">
                    <a:solidFill>
                      <a:srgbClr val="4B5563"/>
                    </a:solidFill>
                    <a:latin typeface="Inter"/>
                    <a:ea typeface="Inter"/>
                    <a:cs typeface="Inter"/>
                    <a:sym typeface="Inter"/>
                  </a:rPr>
                  <a:t>per recruiter per month</a:t>
                </a:r>
                <a:endParaRPr b="0" sz="825">
                  <a:solidFill>
                    <a:srgbClr val="4B5563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21" name="Google Shape;421;p21"/>
              <p:cNvSpPr txBox="1"/>
              <p:nvPr/>
            </p:nvSpPr>
            <p:spPr>
              <a:xfrm>
                <a:off x="228600" y="1733550"/>
                <a:ext cx="2095500" cy="1238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050">
                    <a:solidFill>
                      <a:srgbClr val="4B5563"/>
                    </a:solidFill>
                    <a:latin typeface="Inter"/>
                    <a:ea typeface="Inter"/>
                    <a:cs typeface="Inter"/>
                    <a:sym typeface="Inter"/>
                  </a:rPr>
                  <a:t>~60 freed hours a month let the same recruiter take on 1–2 more roles.</a:t>
                </a:r>
                <a:endParaRPr b="0" sz="1050">
                  <a:solidFill>
                    <a:srgbClr val="4B5563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900"/>
                  </a:spcBef>
                  <a:spcAft>
                    <a:spcPts val="0"/>
                  </a:spcAft>
                  <a:buNone/>
                </a:pPr>
                <a:r>
                  <a:rPr b="0" lang="en" sz="975">
                    <a:solidFill>
                      <a:srgbClr val="10B981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+$6k–$8k</a:t>
                </a:r>
                <a:r>
                  <a:rPr b="0" lang="en" sz="975">
                    <a:solidFill>
                      <a:srgbClr val="111827"/>
                    </a:solidFill>
                    <a:latin typeface="Inter"/>
                    <a:ea typeface="Inter"/>
                    <a:cs typeface="Inter"/>
                    <a:sym typeface="Inter"/>
                  </a:rPr>
                  <a:t> per extra placement (15–20% fee on a $40k salary).</a:t>
                </a:r>
                <a:endParaRPr b="0" sz="975">
                  <a:solidFill>
                    <a:srgbClr val="111827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422" name="Google Shape;422;p21"/>
            <p:cNvGrpSpPr/>
            <p:nvPr/>
          </p:nvGrpSpPr>
          <p:grpSpPr>
            <a:xfrm>
              <a:off x="2838450" y="0"/>
              <a:ext cx="2552700" cy="3238500"/>
              <a:chOff x="0" y="0"/>
              <a:chExt cx="2552700" cy="3238500"/>
            </a:xfrm>
          </p:grpSpPr>
          <p:sp>
            <p:nvSpPr>
              <p:cNvPr id="423" name="Google Shape;423;p21"/>
              <p:cNvSpPr/>
              <p:nvPr/>
            </p:nvSpPr>
            <p:spPr>
              <a:xfrm>
                <a:off x="0" y="0"/>
                <a:ext cx="2552700" cy="3238500"/>
              </a:xfrm>
              <a:prstGeom prst="roundRect">
                <a:avLst>
                  <a:gd fmla="val 2985" name="adj"/>
                </a:avLst>
              </a:prstGeom>
              <a:solidFill>
                <a:srgbClr val="F9FAFB"/>
              </a:solidFill>
              <a:ln cap="flat" cmpd="sng" w="9525">
                <a:solidFill>
                  <a:srgbClr val="E5E7E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424" name="Google Shape;424;p21"/>
              <p:cNvGrpSpPr/>
              <p:nvPr/>
            </p:nvGrpSpPr>
            <p:grpSpPr>
              <a:xfrm>
                <a:off x="247650" y="247650"/>
                <a:ext cx="2076450" cy="190500"/>
                <a:chOff x="19050" y="19050"/>
                <a:chExt cx="2076450" cy="190500"/>
              </a:xfrm>
            </p:grpSpPr>
            <p:grpSp>
              <p:nvGrpSpPr>
                <p:cNvPr id="425" name="Google Shape;425;p21"/>
                <p:cNvGrpSpPr/>
                <p:nvPr/>
              </p:nvGrpSpPr>
              <p:grpSpPr>
                <a:xfrm>
                  <a:off x="19050" y="19050"/>
                  <a:ext cx="190500" cy="190500"/>
                  <a:chOff x="19050" y="19050"/>
                  <a:chExt cx="190500" cy="190500"/>
                </a:xfrm>
              </p:grpSpPr>
              <p:sp>
                <p:nvSpPr>
                  <p:cNvPr id="426" name="Google Shape;426;p21"/>
                  <p:cNvSpPr/>
                  <p:nvPr/>
                </p:nvSpPr>
                <p:spPr>
                  <a:xfrm>
                    <a:off x="19050" y="19050"/>
                    <a:ext cx="190500" cy="190500"/>
                  </a:xfrm>
                  <a:prstGeom prst="ellipse">
                    <a:avLst/>
                  </a:prstGeom>
                  <a:solidFill>
                    <a:srgbClr val="10B981">
                      <a:alpha val="15000"/>
                    </a:srgbClr>
                  </a:solidFill>
                  <a:ln>
                    <a:noFill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27" name="Google Shape;427;p21"/>
                  <p:cNvSpPr/>
                  <p:nvPr/>
                </p:nvSpPr>
                <p:spPr>
                  <a:xfrm>
                    <a:off x="76200" y="85725"/>
                    <a:ext cx="76200" cy="57300"/>
                  </a:xfrm>
                  <a:custGeom>
                    <a:rect b="b" l="l" r="r" t="t"/>
                    <a:pathLst>
                      <a:path extrusionOk="0" h="120000" w="120000">
                        <a:moveTo>
                          <a:pt x="0" y="60000"/>
                        </a:moveTo>
                        <a:lnTo>
                          <a:pt x="45000" y="120000"/>
                        </a:lnTo>
                        <a:lnTo>
                          <a:pt x="120000" y="0"/>
                        </a:lnTo>
                      </a:path>
                    </a:pathLst>
                  </a:custGeom>
                  <a:solidFill>
                    <a:srgbClr val="000000">
                      <a:alpha val="0"/>
                    </a:srgbClr>
                  </a:solidFill>
                  <a:ln cap="rnd" cmpd="sng" w="19050">
                    <a:solidFill>
                      <a:srgbClr val="10B98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sp>
              <p:nvSpPr>
                <p:cNvPr id="428" name="Google Shape;428;p21"/>
                <p:cNvSpPr txBox="1"/>
                <p:nvPr/>
              </p:nvSpPr>
              <p:spPr>
                <a:xfrm>
                  <a:off x="304800" y="19050"/>
                  <a:ext cx="1790700" cy="1905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lang="en" sz="750">
                      <a:solidFill>
                        <a:srgbClr val="7C3AED"/>
                      </a:solidFill>
                      <a:latin typeface="Inter SemiBold"/>
                      <a:ea typeface="Inter SemiBold"/>
                      <a:cs typeface="Inter SemiBold"/>
                      <a:sym typeface="Inter SemiBold"/>
                    </a:rPr>
                    <a:t>SPEED TO HIRE</a:t>
                  </a:r>
                  <a:endParaRPr b="0" sz="750">
                    <a:solidFill>
                      <a:srgbClr val="7C3AED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endParaRPr>
                </a:p>
              </p:txBody>
            </p:sp>
          </p:grpSp>
          <p:sp>
            <p:nvSpPr>
              <p:cNvPr id="429" name="Google Shape;429;p21"/>
              <p:cNvSpPr txBox="1"/>
              <p:nvPr/>
            </p:nvSpPr>
            <p:spPr>
              <a:xfrm>
                <a:off x="228600" y="571500"/>
                <a:ext cx="20955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350">
                    <a:solidFill>
                      <a:srgbClr val="111827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Tech Startups</a:t>
                </a:r>
                <a:endParaRPr b="0" sz="1350">
                  <a:solidFill>
                    <a:srgbClr val="111827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  <p:sp>
            <p:nvSpPr>
              <p:cNvPr id="430" name="Google Shape;430;p21"/>
              <p:cNvSpPr/>
              <p:nvPr/>
            </p:nvSpPr>
            <p:spPr>
              <a:xfrm>
                <a:off x="228600" y="933450"/>
                <a:ext cx="2095500" cy="647700"/>
              </a:xfrm>
              <a:prstGeom prst="roundRect">
                <a:avLst>
                  <a:gd fmla="val 8823" name="adj"/>
                </a:avLst>
              </a:prstGeom>
              <a:solidFill>
                <a:srgbClr val="7C3AED">
                  <a:alpha val="600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1" name="Google Shape;431;p21"/>
              <p:cNvSpPr txBox="1"/>
              <p:nvPr/>
            </p:nvSpPr>
            <p:spPr>
              <a:xfrm>
                <a:off x="342900" y="1009650"/>
                <a:ext cx="1866900" cy="495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800">
                    <a:solidFill>
                      <a:srgbClr val="7C3AED"/>
                    </a:solidFill>
                    <a:latin typeface="Inter"/>
                    <a:ea typeface="Inter"/>
                    <a:cs typeface="Inter"/>
                    <a:sym typeface="Inter"/>
                  </a:rPr>
                  <a:t>Instant Replies</a:t>
                </a:r>
                <a:endParaRPr b="1" sz="1800">
                  <a:solidFill>
                    <a:srgbClr val="7C3AED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b="0" lang="en" sz="825">
                    <a:solidFill>
                      <a:srgbClr val="4B5563"/>
                    </a:solidFill>
                    <a:latin typeface="Inter"/>
                    <a:ea typeface="Inter"/>
                    <a:cs typeface="Inter"/>
                    <a:sym typeface="Inter"/>
                  </a:rPr>
                  <a:t>respond in minutes, not days</a:t>
                </a:r>
                <a:endParaRPr b="0" sz="825">
                  <a:solidFill>
                    <a:srgbClr val="4B5563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32" name="Google Shape;432;p21"/>
              <p:cNvSpPr txBox="1"/>
              <p:nvPr/>
            </p:nvSpPr>
            <p:spPr>
              <a:xfrm>
                <a:off x="228600" y="1733550"/>
                <a:ext cx="2095500" cy="1238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050">
                    <a:solidFill>
                      <a:srgbClr val="4B5563"/>
                    </a:solidFill>
                    <a:latin typeface="Inter"/>
                    <a:ea typeface="Inter"/>
                    <a:cs typeface="Inter"/>
                    <a:sym typeface="Inter"/>
                  </a:rPr>
                  <a:t>Replies in minutes win top candidates. Talent rediscovery re-matches past CVs to new roles at zero sourcing cost.</a:t>
                </a:r>
                <a:endParaRPr b="0" sz="1050">
                  <a:solidFill>
                    <a:srgbClr val="4B5563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900"/>
                  </a:spcBef>
                  <a:spcAft>
                    <a:spcPts val="0"/>
                  </a:spcAft>
                  <a:buNone/>
                </a:pPr>
                <a:r>
                  <a:rPr b="0" lang="en" sz="975">
                    <a:solidFill>
                      <a:srgbClr val="111827"/>
                    </a:solidFill>
                    <a:latin typeface="Inter"/>
                    <a:ea typeface="Inter"/>
                    <a:cs typeface="Inter"/>
                    <a:sym typeface="Inter"/>
                  </a:rPr>
                  <a:t>Directly </a:t>
                </a:r>
                <a:r>
                  <a:rPr b="0" lang="en" sz="975">
                    <a:solidFill>
                      <a:srgbClr val="111827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prevents product roadmap delays</a:t>
                </a:r>
                <a:r>
                  <a:rPr b="0" lang="en" sz="975">
                    <a:solidFill>
                      <a:srgbClr val="111827"/>
                    </a:solidFill>
                    <a:latin typeface="Inter"/>
                    <a:ea typeface="Inter"/>
                    <a:cs typeface="Inter"/>
                    <a:sym typeface="Inter"/>
                  </a:rPr>
                  <a:t> caused by empty engineering seats.</a:t>
                </a:r>
                <a:endParaRPr b="0" sz="975">
                  <a:solidFill>
                    <a:srgbClr val="111827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433" name="Google Shape;433;p21"/>
            <p:cNvGrpSpPr/>
            <p:nvPr/>
          </p:nvGrpSpPr>
          <p:grpSpPr>
            <a:xfrm>
              <a:off x="5676900" y="0"/>
              <a:ext cx="2552700" cy="3238500"/>
              <a:chOff x="0" y="0"/>
              <a:chExt cx="2552700" cy="3238500"/>
            </a:xfrm>
          </p:grpSpPr>
          <p:sp>
            <p:nvSpPr>
              <p:cNvPr id="434" name="Google Shape;434;p21"/>
              <p:cNvSpPr/>
              <p:nvPr/>
            </p:nvSpPr>
            <p:spPr>
              <a:xfrm>
                <a:off x="0" y="0"/>
                <a:ext cx="2552700" cy="3238500"/>
              </a:xfrm>
              <a:prstGeom prst="roundRect">
                <a:avLst>
                  <a:gd fmla="val 2985" name="adj"/>
                </a:avLst>
              </a:prstGeom>
              <a:solidFill>
                <a:srgbClr val="F9FAFB"/>
              </a:solidFill>
              <a:ln cap="flat" cmpd="sng" w="9525">
                <a:solidFill>
                  <a:srgbClr val="E5E7E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435" name="Google Shape;435;p21"/>
              <p:cNvGrpSpPr/>
              <p:nvPr/>
            </p:nvGrpSpPr>
            <p:grpSpPr>
              <a:xfrm>
                <a:off x="247650" y="247650"/>
                <a:ext cx="2076450" cy="190500"/>
                <a:chOff x="19050" y="19050"/>
                <a:chExt cx="2076450" cy="190500"/>
              </a:xfrm>
            </p:grpSpPr>
            <p:grpSp>
              <p:nvGrpSpPr>
                <p:cNvPr id="436" name="Google Shape;436;p21"/>
                <p:cNvGrpSpPr/>
                <p:nvPr/>
              </p:nvGrpSpPr>
              <p:grpSpPr>
                <a:xfrm>
                  <a:off x="19050" y="19050"/>
                  <a:ext cx="190500" cy="190500"/>
                  <a:chOff x="19050" y="19050"/>
                  <a:chExt cx="190500" cy="190500"/>
                </a:xfrm>
              </p:grpSpPr>
              <p:sp>
                <p:nvSpPr>
                  <p:cNvPr id="437" name="Google Shape;437;p21"/>
                  <p:cNvSpPr/>
                  <p:nvPr/>
                </p:nvSpPr>
                <p:spPr>
                  <a:xfrm>
                    <a:off x="19050" y="19050"/>
                    <a:ext cx="190500" cy="190500"/>
                  </a:xfrm>
                  <a:prstGeom prst="ellipse">
                    <a:avLst/>
                  </a:prstGeom>
                  <a:solidFill>
                    <a:srgbClr val="10B981">
                      <a:alpha val="15000"/>
                    </a:srgbClr>
                  </a:solidFill>
                  <a:ln>
                    <a:noFill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38" name="Google Shape;438;p21"/>
                  <p:cNvSpPr/>
                  <p:nvPr/>
                </p:nvSpPr>
                <p:spPr>
                  <a:xfrm>
                    <a:off x="76200" y="85725"/>
                    <a:ext cx="76200" cy="57300"/>
                  </a:xfrm>
                  <a:custGeom>
                    <a:rect b="b" l="l" r="r" t="t"/>
                    <a:pathLst>
                      <a:path extrusionOk="0" h="120000" w="120000">
                        <a:moveTo>
                          <a:pt x="0" y="60000"/>
                        </a:moveTo>
                        <a:lnTo>
                          <a:pt x="45000" y="120000"/>
                        </a:lnTo>
                        <a:lnTo>
                          <a:pt x="120000" y="0"/>
                        </a:lnTo>
                      </a:path>
                    </a:pathLst>
                  </a:custGeom>
                  <a:solidFill>
                    <a:srgbClr val="000000">
                      <a:alpha val="0"/>
                    </a:srgbClr>
                  </a:solidFill>
                  <a:ln cap="rnd" cmpd="sng" w="19050">
                    <a:solidFill>
                      <a:srgbClr val="10B98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sp>
              <p:nvSpPr>
                <p:cNvPr id="439" name="Google Shape;439;p21"/>
                <p:cNvSpPr txBox="1"/>
                <p:nvPr/>
              </p:nvSpPr>
              <p:spPr>
                <a:xfrm>
                  <a:off x="304800" y="19050"/>
                  <a:ext cx="1790700" cy="1905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lang="en" sz="750">
                      <a:solidFill>
                        <a:srgbClr val="7C3AED"/>
                      </a:solidFill>
                      <a:latin typeface="Inter SemiBold"/>
                      <a:ea typeface="Inter SemiBold"/>
                      <a:cs typeface="Inter SemiBold"/>
                      <a:sym typeface="Inter SemiBold"/>
                    </a:rPr>
                    <a:t>CANDIDATE EXPERIENCE</a:t>
                  </a:r>
                  <a:endParaRPr b="0" sz="750">
                    <a:solidFill>
                      <a:srgbClr val="7C3AED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endParaRPr>
                </a:p>
              </p:txBody>
            </p:sp>
          </p:grpSp>
          <p:sp>
            <p:nvSpPr>
              <p:cNvPr id="440" name="Google Shape;440;p21"/>
              <p:cNvSpPr txBox="1"/>
              <p:nvPr/>
            </p:nvSpPr>
            <p:spPr>
              <a:xfrm>
                <a:off x="228600" y="571500"/>
                <a:ext cx="20955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350">
                    <a:solidFill>
                      <a:srgbClr val="111827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Employer Brand</a:t>
                </a:r>
                <a:endParaRPr b="0" sz="1350">
                  <a:solidFill>
                    <a:srgbClr val="111827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  <p:sp>
            <p:nvSpPr>
              <p:cNvPr id="441" name="Google Shape;441;p21"/>
              <p:cNvSpPr/>
              <p:nvPr/>
            </p:nvSpPr>
            <p:spPr>
              <a:xfrm>
                <a:off x="228600" y="933450"/>
                <a:ext cx="2095500" cy="647700"/>
              </a:xfrm>
              <a:prstGeom prst="roundRect">
                <a:avLst>
                  <a:gd fmla="val 8823" name="adj"/>
                </a:avLst>
              </a:prstGeom>
              <a:solidFill>
                <a:srgbClr val="7C3AED">
                  <a:alpha val="600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2" name="Google Shape;442;p21"/>
              <p:cNvSpPr txBox="1"/>
              <p:nvPr/>
            </p:nvSpPr>
            <p:spPr>
              <a:xfrm>
                <a:off x="342900" y="1009650"/>
                <a:ext cx="1866900" cy="495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800">
                    <a:solidFill>
                      <a:srgbClr val="7C3AED"/>
                    </a:solidFill>
                    <a:latin typeface="Inter"/>
                    <a:ea typeface="Inter"/>
                    <a:cs typeface="Inter"/>
                    <a:sym typeface="Inter"/>
                  </a:rPr>
                  <a:t>Zero Ghosting</a:t>
                </a:r>
                <a:endParaRPr b="1" sz="1800">
                  <a:solidFill>
                    <a:srgbClr val="7C3AED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b="0" lang="en" sz="825">
                    <a:solidFill>
                      <a:srgbClr val="4B5563"/>
                    </a:solidFill>
                    <a:latin typeface="Inter"/>
                    <a:ea typeface="Inter"/>
                    <a:cs typeface="Inter"/>
                    <a:sym typeface="Inter"/>
                  </a:rPr>
                  <a:t>respectful, specific feedback</a:t>
                </a:r>
                <a:endParaRPr b="0" sz="825">
                  <a:solidFill>
                    <a:srgbClr val="4B5563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43" name="Google Shape;443;p21"/>
              <p:cNvSpPr txBox="1"/>
              <p:nvPr/>
            </p:nvSpPr>
            <p:spPr>
              <a:xfrm>
                <a:off x="228600" y="1733550"/>
                <a:ext cx="2095500" cy="1238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050">
                    <a:solidFill>
                      <a:srgbClr val="4B5563"/>
                    </a:solidFill>
                    <a:latin typeface="Inter"/>
                    <a:ea typeface="Inter"/>
                    <a:cs typeface="Inter"/>
                    <a:sym typeface="Inter"/>
                  </a:rPr>
                  <a:t>Providing respectful, specific replies to every applicant completely eliminates candidate ghosting.</a:t>
                </a:r>
                <a:endParaRPr b="0" sz="1050">
                  <a:solidFill>
                    <a:srgbClr val="4B5563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900"/>
                  </a:spcBef>
                  <a:spcAft>
                    <a:spcPts val="0"/>
                  </a:spcAft>
                  <a:buNone/>
                </a:pPr>
                <a:r>
                  <a:rPr b="0" lang="en" sz="975">
                    <a:solidFill>
                      <a:srgbClr val="111827"/>
                    </a:solidFill>
                    <a:latin typeface="Inter"/>
                    <a:ea typeface="Inter"/>
                    <a:cs typeface="Inter"/>
                    <a:sym typeface="Inter"/>
                  </a:rPr>
                  <a:t>Significantly </a:t>
                </a:r>
                <a:r>
                  <a:rPr b="0" lang="en" sz="975">
                    <a:solidFill>
                      <a:srgbClr val="111827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boosts employer reputation</a:t>
                </a:r>
                <a:r>
                  <a:rPr b="0" lang="en" sz="975">
                    <a:solidFill>
                      <a:srgbClr val="111827"/>
                    </a:solidFill>
                    <a:latin typeface="Inter"/>
                    <a:ea typeface="Inter"/>
                    <a:cs typeface="Inter"/>
                    <a:sym typeface="Inter"/>
                  </a:rPr>
                  <a:t> and drives higher organic candidate referrals.</a:t>
                </a:r>
                <a:endParaRPr b="0" sz="975">
                  <a:solidFill>
                    <a:srgbClr val="111827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8" name="Google Shape;448;p22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449" name="Google Shape;449;p22"/>
            <p:cNvSpPr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50" name="Google Shape;450;p22"/>
            <p:cNvGrpSpPr/>
            <p:nvPr/>
          </p:nvGrpSpPr>
          <p:grpSpPr>
            <a:xfrm>
              <a:off x="8458200" y="457200"/>
              <a:ext cx="228600" cy="228600"/>
              <a:chOff x="0" y="0"/>
              <a:chExt cx="228600" cy="228600"/>
            </a:xfrm>
          </p:grpSpPr>
          <p:sp>
            <p:nvSpPr>
              <p:cNvPr id="451" name="Google Shape;451;p22"/>
              <p:cNvSpPr/>
              <p:nvPr/>
            </p:nvSpPr>
            <p:spPr>
              <a:xfrm>
                <a:off x="0" y="0"/>
                <a:ext cx="228600" cy="228600"/>
              </a:xfrm>
              <a:prstGeom prst="roundRect">
                <a:avLst>
                  <a:gd fmla="val 25000" name="adj"/>
                </a:avLst>
              </a:prstGeom>
              <a:solidFill>
                <a:srgbClr val="7C3AED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2" name="Google Shape;452;p22"/>
              <p:cNvSpPr/>
              <p:nvPr/>
            </p:nvSpPr>
            <p:spPr>
              <a:xfrm>
                <a:off x="76200" y="66675"/>
                <a:ext cx="76200" cy="95400"/>
              </a:xfrm>
              <a:custGeom>
                <a:rect b="b" l="l" r="r" t="t"/>
                <a:pathLst>
                  <a:path extrusionOk="0" h="120000" w="120000">
                    <a:moveTo>
                      <a:pt x="0" y="0"/>
                    </a:moveTo>
                    <a:lnTo>
                      <a:pt x="0" y="120000"/>
                    </a:lnTo>
                    <a:lnTo>
                      <a:pt x="120000" y="120000"/>
                    </a:lnTo>
                  </a:path>
                </a:pathLst>
              </a:custGeom>
              <a:solidFill>
                <a:srgbClr val="000000">
                  <a:alpha val="0"/>
                </a:srgbClr>
              </a:solidFill>
              <a:ln cap="rnd" cmpd="sng" w="23825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3" name="Google Shape;453;p22"/>
              <p:cNvSpPr/>
              <p:nvPr/>
            </p:nvSpPr>
            <p:spPr>
              <a:xfrm>
                <a:off x="138113" y="147638"/>
                <a:ext cx="28500" cy="285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cxnSp>
          <p:nvCxnSpPr>
            <p:cNvPr id="454" name="Google Shape;454;p22"/>
            <p:cNvCxnSpPr/>
            <p:nvPr/>
          </p:nvCxnSpPr>
          <p:spPr>
            <a:xfrm>
              <a:off x="457200" y="1143000"/>
              <a:ext cx="82296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F3F4F6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455" name="Google Shape;455;p22"/>
          <p:cNvGrpSpPr/>
          <p:nvPr/>
        </p:nvGrpSpPr>
        <p:grpSpPr>
          <a:xfrm>
            <a:off x="457200" y="381000"/>
            <a:ext cx="7620000" cy="647700"/>
            <a:chOff x="457200" y="381000"/>
            <a:chExt cx="7620000" cy="647700"/>
          </a:xfrm>
        </p:grpSpPr>
        <p:sp>
          <p:nvSpPr>
            <p:cNvPr id="456" name="Google Shape;456;p22"/>
            <p:cNvSpPr txBox="1"/>
            <p:nvPr/>
          </p:nvSpPr>
          <p:spPr>
            <a:xfrm>
              <a:off x="457200" y="381000"/>
              <a:ext cx="7620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750">
                  <a:solidFill>
                    <a:srgbClr val="7C3AED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TRUST &amp; GOVERNANCE</a:t>
              </a:r>
              <a:endParaRPr b="0" sz="750">
                <a:solidFill>
                  <a:srgbClr val="7C3AED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sp>
          <p:nvSpPr>
            <p:cNvPr id="457" name="Google Shape;457;p22"/>
            <p:cNvSpPr txBox="1"/>
            <p:nvPr/>
          </p:nvSpPr>
          <p:spPr>
            <a:xfrm>
              <a:off x="457200" y="609600"/>
              <a:ext cx="7620000" cy="41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400">
                  <a:solidFill>
                    <a:srgbClr val="111827"/>
                  </a:solidFill>
                  <a:latin typeface="Inter"/>
                  <a:ea typeface="Inter"/>
                  <a:cs typeface="Inter"/>
                  <a:sym typeface="Inter"/>
                </a:rPr>
                <a:t>Lili is Designed for Complete Trust</a:t>
              </a:r>
              <a:endParaRPr b="1" sz="2400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458" name="Google Shape;458;p22"/>
          <p:cNvGrpSpPr/>
          <p:nvPr/>
        </p:nvGrpSpPr>
        <p:grpSpPr>
          <a:xfrm>
            <a:off x="457200" y="1371600"/>
            <a:ext cx="3962400" cy="1600200"/>
            <a:chOff x="0" y="0"/>
            <a:chExt cx="3962400" cy="1600200"/>
          </a:xfrm>
        </p:grpSpPr>
        <p:sp>
          <p:nvSpPr>
            <p:cNvPr id="459" name="Google Shape;459;p22"/>
            <p:cNvSpPr/>
            <p:nvPr/>
          </p:nvSpPr>
          <p:spPr>
            <a:xfrm>
              <a:off x="0" y="0"/>
              <a:ext cx="3962400" cy="1600200"/>
            </a:xfrm>
            <a:prstGeom prst="roundRect">
              <a:avLst>
                <a:gd fmla="val 7142" name="adj"/>
              </a:avLst>
            </a:prstGeom>
            <a:solidFill>
              <a:srgbClr val="FFFFFF"/>
            </a:solidFill>
            <a:ln cap="flat" cmpd="sng" w="9525">
              <a:solidFill>
                <a:srgbClr val="E5E7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0" name="Google Shape;460;p22"/>
            <p:cNvSpPr/>
            <p:nvPr/>
          </p:nvSpPr>
          <p:spPr>
            <a:xfrm>
              <a:off x="0" y="0"/>
              <a:ext cx="3962400" cy="1600200"/>
            </a:xfrm>
            <a:custGeom>
              <a:rect b="b" l="l" r="r" t="t"/>
              <a:pathLst>
                <a:path extrusionOk="0" h="120000" w="120000">
                  <a:moveTo>
                    <a:pt x="0" y="8571"/>
                  </a:moveTo>
                  <a:cubicBezTo>
                    <a:pt x="0" y="3836"/>
                    <a:pt x="1549" y="0"/>
                    <a:pt x="3462" y="0"/>
                  </a:cubicBezTo>
                  <a:lnTo>
                    <a:pt x="116538" y="0"/>
                  </a:lnTo>
                  <a:cubicBezTo>
                    <a:pt x="118451" y="0"/>
                    <a:pt x="120000" y="3836"/>
                    <a:pt x="120000" y="8571"/>
                  </a:cubicBezTo>
                  <a:lnTo>
                    <a:pt x="120000" y="12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1" name="Google Shape;461;p22"/>
            <p:cNvSpPr/>
            <p:nvPr/>
          </p:nvSpPr>
          <p:spPr>
            <a:xfrm>
              <a:off x="0" y="0"/>
              <a:ext cx="3962400" cy="38100"/>
            </a:xfrm>
            <a:prstGeom prst="roundRect">
              <a:avLst>
                <a:gd fmla="val 50000" name="adj"/>
              </a:avLst>
            </a:prstGeom>
            <a:solidFill>
              <a:srgbClr val="7C3AED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2" name="Google Shape;462;p22"/>
            <p:cNvSpPr/>
            <p:nvPr/>
          </p:nvSpPr>
          <p:spPr>
            <a:xfrm>
              <a:off x="3429000" y="190500"/>
              <a:ext cx="304800" cy="190500"/>
            </a:xfrm>
            <a:prstGeom prst="roundRect">
              <a:avLst>
                <a:gd fmla="val 30000" name="adj"/>
              </a:avLst>
            </a:prstGeom>
            <a:solidFill>
              <a:srgbClr val="F3E8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3" name="Google Shape;463;p22"/>
            <p:cNvSpPr txBox="1"/>
            <p:nvPr/>
          </p:nvSpPr>
          <p:spPr>
            <a:xfrm>
              <a:off x="3429000" y="190500"/>
              <a:ext cx="3048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800">
                  <a:solidFill>
                    <a:srgbClr val="7C3AED"/>
                  </a:solidFill>
                  <a:latin typeface="Inter"/>
                  <a:ea typeface="Inter"/>
                  <a:cs typeface="Inter"/>
                  <a:sym typeface="Inter"/>
                </a:rPr>
                <a:t>01</a:t>
              </a:r>
              <a:endParaRPr b="1" sz="800">
                <a:solidFill>
                  <a:srgbClr val="7C3AED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464" name="Google Shape;464;p22"/>
            <p:cNvSpPr/>
            <p:nvPr/>
          </p:nvSpPr>
          <p:spPr>
            <a:xfrm>
              <a:off x="228600" y="228600"/>
              <a:ext cx="419100" cy="419100"/>
            </a:xfrm>
            <a:prstGeom prst="roundRect">
              <a:avLst>
                <a:gd fmla="val 22727" name="adj"/>
              </a:avLst>
            </a:prstGeom>
            <a:solidFill>
              <a:srgbClr val="7C3AED">
                <a:alpha val="1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5" name="Google Shape;465;p22"/>
            <p:cNvSpPr txBox="1"/>
            <p:nvPr/>
          </p:nvSpPr>
          <p:spPr>
            <a:xfrm>
              <a:off x="228600" y="252698"/>
              <a:ext cx="419100" cy="41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50">
                  <a:solidFill>
                    <a:srgbClr val="7C3AED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fact_check</a:t>
              </a:r>
              <a:endParaRPr sz="1650">
                <a:solidFill>
                  <a:srgbClr val="7C3AED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466" name="Google Shape;466;p22"/>
            <p:cNvSpPr txBox="1"/>
            <p:nvPr/>
          </p:nvSpPr>
          <p:spPr>
            <a:xfrm>
              <a:off x="762000" y="247650"/>
              <a:ext cx="2476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111827"/>
                  </a:solidFill>
                  <a:latin typeface="Inter"/>
                  <a:ea typeface="Inter"/>
                  <a:cs typeface="Inter"/>
                  <a:sym typeface="Inter"/>
                </a:rPr>
                <a:t>1. Explainable</a:t>
              </a:r>
              <a:endParaRPr b="1" sz="1300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467" name="Google Shape;467;p22"/>
            <p:cNvSpPr txBox="1"/>
            <p:nvPr/>
          </p:nvSpPr>
          <p:spPr>
            <a:xfrm>
              <a:off x="228600" y="762000"/>
              <a:ext cx="3505200" cy="68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rgbClr val="4B5563"/>
                  </a:solidFill>
                  <a:latin typeface="Inter"/>
                  <a:ea typeface="Inter"/>
                  <a:cs typeface="Inter"/>
                  <a:sym typeface="Inter"/>
                </a:rPr>
                <a:t>Rubric breakdown, quoted CV evidence and the cap applied for every score. Lili scores blind; if she and the pre-screen would decide differently, a human reviews.</a:t>
              </a:r>
              <a:endParaRPr sz="100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468" name="Google Shape;468;p22"/>
          <p:cNvGrpSpPr/>
          <p:nvPr/>
        </p:nvGrpSpPr>
        <p:grpSpPr>
          <a:xfrm>
            <a:off x="4724400" y="1371600"/>
            <a:ext cx="3962400" cy="1600200"/>
            <a:chOff x="0" y="0"/>
            <a:chExt cx="3962400" cy="1600200"/>
          </a:xfrm>
        </p:grpSpPr>
        <p:sp>
          <p:nvSpPr>
            <p:cNvPr id="469" name="Google Shape;469;p22"/>
            <p:cNvSpPr/>
            <p:nvPr/>
          </p:nvSpPr>
          <p:spPr>
            <a:xfrm>
              <a:off x="0" y="0"/>
              <a:ext cx="3962400" cy="1600200"/>
            </a:xfrm>
            <a:prstGeom prst="roundRect">
              <a:avLst>
                <a:gd fmla="val 7142" name="adj"/>
              </a:avLst>
            </a:prstGeom>
            <a:solidFill>
              <a:srgbClr val="FFFFFF"/>
            </a:solidFill>
            <a:ln cap="flat" cmpd="sng" w="9525">
              <a:solidFill>
                <a:srgbClr val="E5E7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0" name="Google Shape;470;p22"/>
            <p:cNvSpPr/>
            <p:nvPr/>
          </p:nvSpPr>
          <p:spPr>
            <a:xfrm>
              <a:off x="0" y="0"/>
              <a:ext cx="3962400" cy="38100"/>
            </a:xfrm>
            <a:prstGeom prst="roundRect">
              <a:avLst>
                <a:gd fmla="val 50000" name="adj"/>
              </a:avLst>
            </a:prstGeom>
            <a:solidFill>
              <a:srgbClr val="7C3AED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1" name="Google Shape;471;p22"/>
            <p:cNvSpPr/>
            <p:nvPr/>
          </p:nvSpPr>
          <p:spPr>
            <a:xfrm>
              <a:off x="3429000" y="190500"/>
              <a:ext cx="304800" cy="190500"/>
            </a:xfrm>
            <a:prstGeom prst="roundRect">
              <a:avLst>
                <a:gd fmla="val 30000" name="adj"/>
              </a:avLst>
            </a:prstGeom>
            <a:solidFill>
              <a:srgbClr val="F3E8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2" name="Google Shape;472;p22"/>
            <p:cNvSpPr txBox="1"/>
            <p:nvPr/>
          </p:nvSpPr>
          <p:spPr>
            <a:xfrm>
              <a:off x="3429000" y="190500"/>
              <a:ext cx="3048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800">
                  <a:solidFill>
                    <a:srgbClr val="7C3AED"/>
                  </a:solidFill>
                  <a:latin typeface="Inter"/>
                  <a:ea typeface="Inter"/>
                  <a:cs typeface="Inter"/>
                  <a:sym typeface="Inter"/>
                </a:rPr>
                <a:t>02</a:t>
              </a:r>
              <a:endParaRPr b="1" sz="800">
                <a:solidFill>
                  <a:srgbClr val="7C3AED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473" name="Google Shape;473;p22"/>
            <p:cNvSpPr/>
            <p:nvPr/>
          </p:nvSpPr>
          <p:spPr>
            <a:xfrm>
              <a:off x="228600" y="228600"/>
              <a:ext cx="419100" cy="419100"/>
            </a:xfrm>
            <a:prstGeom prst="roundRect">
              <a:avLst>
                <a:gd fmla="val 22727" name="adj"/>
              </a:avLst>
            </a:prstGeom>
            <a:solidFill>
              <a:srgbClr val="7C3AED">
                <a:alpha val="1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4" name="Google Shape;474;p22"/>
            <p:cNvSpPr txBox="1"/>
            <p:nvPr/>
          </p:nvSpPr>
          <p:spPr>
            <a:xfrm>
              <a:off x="228600" y="252698"/>
              <a:ext cx="419100" cy="41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50">
                  <a:solidFill>
                    <a:srgbClr val="7C3AED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balance</a:t>
              </a:r>
              <a:endParaRPr sz="1650">
                <a:solidFill>
                  <a:srgbClr val="7C3AED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475" name="Google Shape;475;p22"/>
            <p:cNvSpPr txBox="1"/>
            <p:nvPr/>
          </p:nvSpPr>
          <p:spPr>
            <a:xfrm>
              <a:off x="762000" y="247650"/>
              <a:ext cx="2476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111827"/>
                  </a:solidFill>
                  <a:latin typeface="Inter"/>
                  <a:ea typeface="Inter"/>
                  <a:cs typeface="Inter"/>
                  <a:sym typeface="Inter"/>
                </a:rPr>
                <a:t>2. Fair</a:t>
              </a:r>
              <a:endParaRPr b="1" sz="1300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476" name="Google Shape;476;p22"/>
            <p:cNvSpPr txBox="1"/>
            <p:nvPr/>
          </p:nvSpPr>
          <p:spPr>
            <a:xfrm>
              <a:off x="228600" y="762000"/>
              <a:ext cx="3505200" cy="68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rgbClr val="4B5563"/>
                  </a:solidFill>
                  <a:latin typeface="Inter"/>
                  <a:ea typeface="Inter"/>
                  <a:cs typeface="Inter"/>
                  <a:sym typeface="Inter"/>
                </a:rPr>
                <a:t>Bias-Free Mode hides names and emails; demographics and prestige are ignored. Prompt-injection tricks are flagged, and GitHub claims are verified.</a:t>
              </a:r>
              <a:endParaRPr sz="100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477" name="Google Shape;477;p22"/>
          <p:cNvGrpSpPr/>
          <p:nvPr/>
        </p:nvGrpSpPr>
        <p:grpSpPr>
          <a:xfrm>
            <a:off x="457200" y="3162300"/>
            <a:ext cx="3962400" cy="1600200"/>
            <a:chOff x="0" y="0"/>
            <a:chExt cx="3962400" cy="1600200"/>
          </a:xfrm>
        </p:grpSpPr>
        <p:sp>
          <p:nvSpPr>
            <p:cNvPr id="478" name="Google Shape;478;p22"/>
            <p:cNvSpPr/>
            <p:nvPr/>
          </p:nvSpPr>
          <p:spPr>
            <a:xfrm>
              <a:off x="0" y="0"/>
              <a:ext cx="3962400" cy="1600200"/>
            </a:xfrm>
            <a:prstGeom prst="roundRect">
              <a:avLst>
                <a:gd fmla="val 7142" name="adj"/>
              </a:avLst>
            </a:prstGeom>
            <a:solidFill>
              <a:srgbClr val="FFFFFF"/>
            </a:solidFill>
            <a:ln cap="flat" cmpd="sng" w="9525">
              <a:solidFill>
                <a:srgbClr val="E5E7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9" name="Google Shape;479;p22"/>
            <p:cNvSpPr/>
            <p:nvPr/>
          </p:nvSpPr>
          <p:spPr>
            <a:xfrm>
              <a:off x="0" y="0"/>
              <a:ext cx="3962400" cy="38100"/>
            </a:xfrm>
            <a:prstGeom prst="roundRect">
              <a:avLst>
                <a:gd fmla="val 50000" name="adj"/>
              </a:avLst>
            </a:prstGeom>
            <a:solidFill>
              <a:srgbClr val="7C3AED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0" name="Google Shape;480;p22"/>
            <p:cNvSpPr/>
            <p:nvPr/>
          </p:nvSpPr>
          <p:spPr>
            <a:xfrm>
              <a:off x="3429000" y="190500"/>
              <a:ext cx="304800" cy="190500"/>
            </a:xfrm>
            <a:prstGeom prst="roundRect">
              <a:avLst>
                <a:gd fmla="val 30000" name="adj"/>
              </a:avLst>
            </a:prstGeom>
            <a:solidFill>
              <a:srgbClr val="F3E8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1" name="Google Shape;481;p22"/>
            <p:cNvSpPr txBox="1"/>
            <p:nvPr/>
          </p:nvSpPr>
          <p:spPr>
            <a:xfrm>
              <a:off x="3429000" y="190500"/>
              <a:ext cx="3048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800">
                  <a:solidFill>
                    <a:srgbClr val="7C3AED"/>
                  </a:solidFill>
                  <a:latin typeface="Inter"/>
                  <a:ea typeface="Inter"/>
                  <a:cs typeface="Inter"/>
                  <a:sym typeface="Inter"/>
                </a:rPr>
                <a:t>03</a:t>
              </a:r>
              <a:endParaRPr b="1" sz="800">
                <a:solidFill>
                  <a:srgbClr val="7C3AED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482" name="Google Shape;482;p22"/>
            <p:cNvSpPr/>
            <p:nvPr/>
          </p:nvSpPr>
          <p:spPr>
            <a:xfrm>
              <a:off x="228600" y="228600"/>
              <a:ext cx="419100" cy="419100"/>
            </a:xfrm>
            <a:prstGeom prst="roundRect">
              <a:avLst>
                <a:gd fmla="val 22727" name="adj"/>
              </a:avLst>
            </a:prstGeom>
            <a:solidFill>
              <a:srgbClr val="7C3AED">
                <a:alpha val="1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3" name="Google Shape;483;p22"/>
            <p:cNvSpPr txBox="1"/>
            <p:nvPr/>
          </p:nvSpPr>
          <p:spPr>
            <a:xfrm>
              <a:off x="228600" y="252698"/>
              <a:ext cx="419100" cy="41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50">
                  <a:solidFill>
                    <a:srgbClr val="7C3AED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touch_app</a:t>
              </a:r>
              <a:endParaRPr sz="1650">
                <a:solidFill>
                  <a:srgbClr val="7C3AED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484" name="Google Shape;484;p22"/>
            <p:cNvSpPr txBox="1"/>
            <p:nvPr/>
          </p:nvSpPr>
          <p:spPr>
            <a:xfrm>
              <a:off x="762000" y="247650"/>
              <a:ext cx="2476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111827"/>
                  </a:solidFill>
                  <a:latin typeface="Inter"/>
                  <a:ea typeface="Inter"/>
                  <a:cs typeface="Inter"/>
                  <a:sym typeface="Inter"/>
                </a:rPr>
                <a:t>3. Human in the Loop</a:t>
              </a:r>
              <a:endParaRPr b="1" sz="1300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485" name="Google Shape;485;p22"/>
            <p:cNvSpPr txBox="1"/>
            <p:nvPr/>
          </p:nvSpPr>
          <p:spPr>
            <a:xfrm>
              <a:off x="228600" y="762000"/>
              <a:ext cx="3505200" cy="68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rgbClr val="4B5563"/>
                  </a:solidFill>
                  <a:latin typeface="Inter"/>
                  <a:ea typeface="Inter"/>
                  <a:cs typeface="Inter"/>
                  <a:sym typeface="Inter"/>
                </a:rPr>
                <a:t>Invites go out automatically. Every rejection waits for the recruiter's Approve &amp; send, editable before sending. The rules live in the database.</a:t>
              </a:r>
              <a:endParaRPr sz="100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486" name="Google Shape;486;p22"/>
          <p:cNvGrpSpPr/>
          <p:nvPr/>
        </p:nvGrpSpPr>
        <p:grpSpPr>
          <a:xfrm>
            <a:off x="4724400" y="3162300"/>
            <a:ext cx="3962400" cy="1600200"/>
            <a:chOff x="0" y="0"/>
            <a:chExt cx="3962400" cy="1600200"/>
          </a:xfrm>
        </p:grpSpPr>
        <p:sp>
          <p:nvSpPr>
            <p:cNvPr id="487" name="Google Shape;487;p22"/>
            <p:cNvSpPr/>
            <p:nvPr/>
          </p:nvSpPr>
          <p:spPr>
            <a:xfrm>
              <a:off x="0" y="0"/>
              <a:ext cx="3962400" cy="1600200"/>
            </a:xfrm>
            <a:prstGeom prst="roundRect">
              <a:avLst>
                <a:gd fmla="val 7142" name="adj"/>
              </a:avLst>
            </a:prstGeom>
            <a:solidFill>
              <a:srgbClr val="FFFFFF"/>
            </a:solidFill>
            <a:ln cap="flat" cmpd="sng" w="9525">
              <a:solidFill>
                <a:srgbClr val="E5E7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8" name="Google Shape;488;p22"/>
            <p:cNvSpPr/>
            <p:nvPr/>
          </p:nvSpPr>
          <p:spPr>
            <a:xfrm>
              <a:off x="0" y="0"/>
              <a:ext cx="3962400" cy="38100"/>
            </a:xfrm>
            <a:prstGeom prst="roundRect">
              <a:avLst>
                <a:gd fmla="val 50000" name="adj"/>
              </a:avLst>
            </a:prstGeom>
            <a:solidFill>
              <a:srgbClr val="7C3AED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9" name="Google Shape;489;p22"/>
            <p:cNvSpPr/>
            <p:nvPr/>
          </p:nvSpPr>
          <p:spPr>
            <a:xfrm>
              <a:off x="3429000" y="190500"/>
              <a:ext cx="304800" cy="190500"/>
            </a:xfrm>
            <a:prstGeom prst="roundRect">
              <a:avLst>
                <a:gd fmla="val 30000" name="adj"/>
              </a:avLst>
            </a:prstGeom>
            <a:solidFill>
              <a:srgbClr val="F3E8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0" name="Google Shape;490;p22"/>
            <p:cNvSpPr txBox="1"/>
            <p:nvPr/>
          </p:nvSpPr>
          <p:spPr>
            <a:xfrm>
              <a:off x="3429000" y="190500"/>
              <a:ext cx="3048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800">
                  <a:solidFill>
                    <a:srgbClr val="7C3AED"/>
                  </a:solidFill>
                  <a:latin typeface="Inter"/>
                  <a:ea typeface="Inter"/>
                  <a:cs typeface="Inter"/>
                  <a:sym typeface="Inter"/>
                </a:rPr>
                <a:t>04</a:t>
              </a:r>
              <a:endParaRPr b="1" sz="800">
                <a:solidFill>
                  <a:srgbClr val="7C3AED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491" name="Google Shape;491;p22"/>
            <p:cNvSpPr/>
            <p:nvPr/>
          </p:nvSpPr>
          <p:spPr>
            <a:xfrm>
              <a:off x="228600" y="228600"/>
              <a:ext cx="419100" cy="419100"/>
            </a:xfrm>
            <a:prstGeom prst="roundRect">
              <a:avLst>
                <a:gd fmla="val 22727" name="adj"/>
              </a:avLst>
            </a:prstGeom>
            <a:solidFill>
              <a:srgbClr val="7C3AED">
                <a:alpha val="1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2" name="Google Shape;492;p22"/>
            <p:cNvSpPr txBox="1"/>
            <p:nvPr/>
          </p:nvSpPr>
          <p:spPr>
            <a:xfrm>
              <a:off x="228600" y="252698"/>
              <a:ext cx="419100" cy="41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50">
                  <a:solidFill>
                    <a:srgbClr val="7C3AED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verified_user</a:t>
              </a:r>
              <a:endParaRPr sz="1650">
                <a:solidFill>
                  <a:srgbClr val="7C3AED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493" name="Google Shape;493;p22"/>
            <p:cNvSpPr txBox="1"/>
            <p:nvPr/>
          </p:nvSpPr>
          <p:spPr>
            <a:xfrm>
              <a:off x="762000" y="247650"/>
              <a:ext cx="2476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111827"/>
                  </a:solidFill>
                  <a:latin typeface="Inter"/>
                  <a:ea typeface="Inter"/>
                  <a:cs typeface="Inter"/>
                  <a:sym typeface="Inter"/>
                </a:rPr>
                <a:t>4. Private by Design</a:t>
              </a:r>
              <a:endParaRPr b="1" sz="1300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494" name="Google Shape;494;p22"/>
            <p:cNvSpPr txBox="1"/>
            <p:nvPr/>
          </p:nvSpPr>
          <p:spPr>
            <a:xfrm>
              <a:off x="228600" y="762000"/>
              <a:ext cx="3505200" cy="68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rgbClr val="4B5563"/>
                  </a:solidFill>
                  <a:latin typeface="Inter"/>
                  <a:ea typeface="Inter"/>
                  <a:cs typeface="Inter"/>
                  <a:sym typeface="Inter"/>
                </a:rPr>
                <a:t>Built with login authentication, row-level security, and owner-only database isolation so recruiters strictly access their own pipeline.</a:t>
              </a:r>
              <a:endParaRPr sz="100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9" name="Google Shape;499;p23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500" name="Google Shape;500;p23"/>
            <p:cNvSpPr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solidFill>
              <a:srgbClr val="7C3AED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501" name="Google Shape;501;p2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9525" y="9525"/>
              <a:ext cx="8934600" cy="50484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502" name="Google Shape;502;p23"/>
            <p:cNvGrpSpPr/>
            <p:nvPr/>
          </p:nvGrpSpPr>
          <p:grpSpPr>
            <a:xfrm>
              <a:off x="457200" y="457200"/>
              <a:ext cx="228600" cy="228600"/>
              <a:chOff x="0" y="0"/>
              <a:chExt cx="228600" cy="228600"/>
            </a:xfrm>
          </p:grpSpPr>
          <p:sp>
            <p:nvSpPr>
              <p:cNvPr id="503" name="Google Shape;503;p23"/>
              <p:cNvSpPr/>
              <p:nvPr/>
            </p:nvSpPr>
            <p:spPr>
              <a:xfrm>
                <a:off x="0" y="0"/>
                <a:ext cx="228600" cy="228600"/>
              </a:xfrm>
              <a:prstGeom prst="roundRect">
                <a:avLst>
                  <a:gd fmla="val 25000" name="adj"/>
                </a:avLst>
              </a:prstGeom>
              <a:solidFill>
                <a:srgbClr val="FFFFFF">
                  <a:alpha val="2000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4" name="Google Shape;504;p23"/>
              <p:cNvSpPr/>
              <p:nvPr/>
            </p:nvSpPr>
            <p:spPr>
              <a:xfrm>
                <a:off x="76200" y="66675"/>
                <a:ext cx="76200" cy="95400"/>
              </a:xfrm>
              <a:custGeom>
                <a:rect b="b" l="l" r="r" t="t"/>
                <a:pathLst>
                  <a:path extrusionOk="0" h="120000" w="120000">
                    <a:moveTo>
                      <a:pt x="0" y="0"/>
                    </a:moveTo>
                    <a:lnTo>
                      <a:pt x="0" y="120000"/>
                    </a:lnTo>
                    <a:lnTo>
                      <a:pt x="120000" y="120000"/>
                    </a:lnTo>
                  </a:path>
                </a:pathLst>
              </a:custGeom>
              <a:solidFill>
                <a:srgbClr val="000000">
                  <a:alpha val="0"/>
                </a:srgbClr>
              </a:solidFill>
              <a:ln cap="rnd" cmpd="sng" w="23825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5" name="Google Shape;505;p23"/>
              <p:cNvSpPr/>
              <p:nvPr/>
            </p:nvSpPr>
            <p:spPr>
              <a:xfrm>
                <a:off x="138113" y="147638"/>
                <a:ext cx="28500" cy="285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506" name="Google Shape;506;p23"/>
          <p:cNvSpPr txBox="1"/>
          <p:nvPr/>
        </p:nvSpPr>
        <p:spPr>
          <a:xfrm>
            <a:off x="857250" y="419100"/>
            <a:ext cx="3810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FUTURE ROADMAP &amp; VISION</a:t>
            </a:r>
            <a:endParaRPr b="0" sz="900">
              <a:solidFill>
                <a:srgbClr val="FFFFFF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grpSp>
        <p:nvGrpSpPr>
          <p:cNvPr id="507" name="Google Shape;507;p23"/>
          <p:cNvGrpSpPr/>
          <p:nvPr/>
        </p:nvGrpSpPr>
        <p:grpSpPr>
          <a:xfrm>
            <a:off x="495300" y="1047750"/>
            <a:ext cx="3829200" cy="2819400"/>
            <a:chOff x="38100" y="0"/>
            <a:chExt cx="3829200" cy="2819400"/>
          </a:xfrm>
        </p:grpSpPr>
        <p:grpSp>
          <p:nvGrpSpPr>
            <p:cNvPr id="508" name="Google Shape;508;p23"/>
            <p:cNvGrpSpPr/>
            <p:nvPr/>
          </p:nvGrpSpPr>
          <p:grpSpPr>
            <a:xfrm>
              <a:off x="38100" y="0"/>
              <a:ext cx="3829200" cy="1000200"/>
              <a:chOff x="38100" y="0"/>
              <a:chExt cx="3829200" cy="1000200"/>
            </a:xfrm>
          </p:grpSpPr>
          <p:pic>
            <p:nvPicPr>
              <p:cNvPr id="509" name="Google Shape;509;p23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104775" y="228600"/>
                <a:ext cx="19200" cy="7716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510" name="Google Shape;510;p23"/>
              <p:cNvSpPr/>
              <p:nvPr/>
            </p:nvSpPr>
            <p:spPr>
              <a:xfrm>
                <a:off x="38100" y="38100"/>
                <a:ext cx="152400" cy="1524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1" name="Google Shape;511;p23"/>
              <p:cNvSpPr txBox="1"/>
              <p:nvPr/>
            </p:nvSpPr>
            <p:spPr>
              <a:xfrm>
                <a:off x="342900" y="0"/>
                <a:ext cx="35244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200">
                    <a:solidFill>
                      <a:srgbClr val="FFFFFF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Autopilot Intake &amp; Scheduling</a:t>
                </a:r>
                <a:endParaRPr b="0" sz="1200">
                  <a:solidFill>
                    <a:srgbClr val="FFFFFF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  <p:sp>
            <p:nvSpPr>
              <p:cNvPr id="512" name="Google Shape;512;p23"/>
              <p:cNvSpPr txBox="1"/>
              <p:nvPr/>
            </p:nvSpPr>
            <p:spPr>
              <a:xfrm>
                <a:off x="342900" y="247650"/>
                <a:ext cx="3524400" cy="57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975">
                    <a:solidFill>
                      <a:srgbClr val="FFFFFF"/>
                    </a:solidFill>
                    <a:latin typeface="Inter"/>
                    <a:ea typeface="Inter"/>
                    <a:cs typeface="Inter"/>
                    <a:sym typeface="Inter"/>
                  </a:rPr>
                  <a:t>Automated Gmail intake, calendar booking confirmations, and seamless interview scheduling.</a:t>
                </a:r>
                <a:endParaRPr b="0" sz="975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513" name="Google Shape;513;p23"/>
            <p:cNvGrpSpPr/>
            <p:nvPr/>
          </p:nvGrpSpPr>
          <p:grpSpPr>
            <a:xfrm>
              <a:off x="38100" y="1000125"/>
              <a:ext cx="3829200" cy="1000200"/>
              <a:chOff x="38100" y="0"/>
              <a:chExt cx="3829200" cy="1000200"/>
            </a:xfrm>
          </p:grpSpPr>
          <p:pic>
            <p:nvPicPr>
              <p:cNvPr id="514" name="Google Shape;514;p23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104775" y="228600"/>
                <a:ext cx="19200" cy="7716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515" name="Google Shape;515;p23"/>
              <p:cNvSpPr/>
              <p:nvPr/>
            </p:nvSpPr>
            <p:spPr>
              <a:xfrm>
                <a:off x="38100" y="38100"/>
                <a:ext cx="152400" cy="1524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6" name="Google Shape;516;p23"/>
              <p:cNvSpPr txBox="1"/>
              <p:nvPr/>
            </p:nvSpPr>
            <p:spPr>
              <a:xfrm>
                <a:off x="342900" y="0"/>
                <a:ext cx="35244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200">
                    <a:solidFill>
                      <a:srgbClr val="FFFFFF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Multi-Recruiter &amp; Agency Portal</a:t>
                </a:r>
                <a:endParaRPr b="0" sz="1200">
                  <a:solidFill>
                    <a:srgbClr val="FFFFFF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  <p:sp>
            <p:nvSpPr>
              <p:cNvPr id="517" name="Google Shape;517;p23"/>
              <p:cNvSpPr txBox="1"/>
              <p:nvPr/>
            </p:nvSpPr>
            <p:spPr>
              <a:xfrm>
                <a:off x="342900" y="247650"/>
                <a:ext cx="3524400" cy="57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975">
                    <a:solidFill>
                      <a:srgbClr val="FFFFFF"/>
                    </a:solidFill>
                    <a:latin typeface="Inter"/>
                    <a:ea typeface="Inter"/>
                    <a:cs typeface="Inter"/>
                    <a:sym typeface="Inter"/>
                  </a:rPr>
                  <a:t>Expanding platform capabilities to support collaborative multi-recruiter teams and a dedicated agency client portal.</a:t>
                </a:r>
                <a:endParaRPr b="0" sz="975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518" name="Google Shape;518;p23"/>
            <p:cNvGrpSpPr/>
            <p:nvPr/>
          </p:nvGrpSpPr>
          <p:grpSpPr>
            <a:xfrm>
              <a:off x="38100" y="2000250"/>
              <a:ext cx="3829200" cy="819150"/>
              <a:chOff x="38100" y="0"/>
              <a:chExt cx="3829200" cy="819150"/>
            </a:xfrm>
          </p:grpSpPr>
          <p:sp>
            <p:nvSpPr>
              <p:cNvPr id="519" name="Google Shape;519;p23"/>
              <p:cNvSpPr/>
              <p:nvPr/>
            </p:nvSpPr>
            <p:spPr>
              <a:xfrm>
                <a:off x="38100" y="38100"/>
                <a:ext cx="152400" cy="1524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0" name="Google Shape;520;p23"/>
              <p:cNvSpPr txBox="1"/>
              <p:nvPr/>
            </p:nvSpPr>
            <p:spPr>
              <a:xfrm>
                <a:off x="342900" y="0"/>
                <a:ext cx="35244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200">
                    <a:solidFill>
                      <a:srgbClr val="FFFFFF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Wesam.ai Marketplace Listing</a:t>
                </a:r>
                <a:endParaRPr b="0" sz="1200">
                  <a:solidFill>
                    <a:srgbClr val="FFFFFF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  <p:sp>
            <p:nvSpPr>
              <p:cNvPr id="521" name="Google Shape;521;p23"/>
              <p:cNvSpPr txBox="1"/>
              <p:nvPr/>
            </p:nvSpPr>
            <p:spPr>
              <a:xfrm>
                <a:off x="342900" y="247650"/>
                <a:ext cx="3524400" cy="57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975">
                    <a:solidFill>
                      <a:srgbClr val="FFFFFF"/>
                    </a:solidFill>
                    <a:latin typeface="Inter"/>
                    <a:ea typeface="Inter"/>
                    <a:cs typeface="Inter"/>
                    <a:sym typeface="Inter"/>
                  </a:rPr>
                  <a:t>Submitted to the Wesam.ai marketplace (in review) so any SME can hire Lili in one click.</a:t>
                </a:r>
                <a:endParaRPr b="0" sz="975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pic>
        <p:nvPicPr>
          <p:cNvPr id="522" name="Google Shape;522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567238" y="952500"/>
            <a:ext cx="9600" cy="3619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23" name="Google Shape;523;p23"/>
          <p:cNvGrpSpPr/>
          <p:nvPr/>
        </p:nvGrpSpPr>
        <p:grpSpPr>
          <a:xfrm>
            <a:off x="4943475" y="1133475"/>
            <a:ext cx="3753000" cy="3067200"/>
            <a:chOff x="-9525" y="-9525"/>
            <a:chExt cx="3753000" cy="3067200"/>
          </a:xfrm>
        </p:grpSpPr>
        <p:pic>
          <p:nvPicPr>
            <p:cNvPr id="524" name="Google Shape;524;p23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-9525" y="-9525"/>
              <a:ext cx="3753000" cy="306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5" name="Google Shape;525;p23"/>
            <p:cNvSpPr/>
            <p:nvPr/>
          </p:nvSpPr>
          <p:spPr>
            <a:xfrm>
              <a:off x="304800" y="419100"/>
              <a:ext cx="38100" cy="1047900"/>
            </a:xfrm>
            <a:prstGeom prst="roundRect">
              <a:avLst>
                <a:gd fmla="val 50000" name="adj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6" name="Google Shape;526;p23"/>
            <p:cNvSpPr txBox="1"/>
            <p:nvPr/>
          </p:nvSpPr>
          <p:spPr>
            <a:xfrm>
              <a:off x="457200" y="381000"/>
              <a:ext cx="2971800" cy="123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95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"Lili turns 66 hours of manual screening into a few hours of review, on a $0/month stack."</a:t>
              </a:r>
              <a:endParaRPr b="1" sz="195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pic>
          <p:nvPicPr>
            <p:cNvPr id="527" name="Google Shape;527;p23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304800" y="1804988"/>
              <a:ext cx="3124200" cy="96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528" name="Google Shape;528;p23"/>
            <p:cNvGrpSpPr/>
            <p:nvPr/>
          </p:nvGrpSpPr>
          <p:grpSpPr>
            <a:xfrm>
              <a:off x="304800" y="2000250"/>
              <a:ext cx="3143250" cy="514350"/>
              <a:chOff x="0" y="0"/>
              <a:chExt cx="3143250" cy="514350"/>
            </a:xfrm>
          </p:grpSpPr>
          <p:grpSp>
            <p:nvGrpSpPr>
              <p:cNvPr id="529" name="Google Shape;529;p23"/>
              <p:cNvGrpSpPr/>
              <p:nvPr/>
            </p:nvGrpSpPr>
            <p:grpSpPr>
              <a:xfrm>
                <a:off x="0" y="0"/>
                <a:ext cx="1428900" cy="514350"/>
                <a:chOff x="0" y="0"/>
                <a:chExt cx="1428900" cy="514350"/>
              </a:xfrm>
            </p:grpSpPr>
            <p:sp>
              <p:nvSpPr>
                <p:cNvPr id="530" name="Google Shape;530;p23"/>
                <p:cNvSpPr txBox="1"/>
                <p:nvPr/>
              </p:nvSpPr>
              <p:spPr>
                <a:xfrm>
                  <a:off x="0" y="0"/>
                  <a:ext cx="1428900" cy="3048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lang="en" sz="1943">
                      <a:solidFill>
                        <a:srgbClr val="FFFFFF"/>
                      </a:solidFill>
                      <a:latin typeface="Inter ExtraBold"/>
                      <a:ea typeface="Inter ExtraBold"/>
                      <a:cs typeface="Inter ExtraBold"/>
                      <a:sym typeface="Inter ExtraBold"/>
                    </a:rPr>
                    <a:t>66 hrs</a:t>
                  </a:r>
                  <a:endParaRPr b="0" sz="1943">
                    <a:solidFill>
                      <a:srgbClr val="FFFFFF"/>
                    </a:solidFill>
                    <a:latin typeface="Inter ExtraBold"/>
                    <a:ea typeface="Inter ExtraBold"/>
                    <a:cs typeface="Inter ExtraBold"/>
                    <a:sym typeface="Inter ExtraBold"/>
                  </a:endParaRPr>
                </a:p>
              </p:txBody>
            </p:sp>
            <p:sp>
              <p:nvSpPr>
                <p:cNvPr id="531" name="Google Shape;531;p23"/>
                <p:cNvSpPr txBox="1"/>
                <p:nvPr/>
              </p:nvSpPr>
              <p:spPr>
                <a:xfrm>
                  <a:off x="0" y="323850"/>
                  <a:ext cx="1428900" cy="1905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lang="en" sz="825">
                      <a:solidFill>
                        <a:srgbClr val="FFFFFF"/>
                      </a:solidFill>
                      <a:latin typeface="Inter"/>
                      <a:ea typeface="Inter"/>
                      <a:cs typeface="Inter"/>
                      <a:sym typeface="Inter"/>
                    </a:rPr>
                    <a:t>Manual Effort Saved</a:t>
                  </a:r>
                  <a:endParaRPr b="0" sz="825">
                    <a:solidFill>
                      <a:srgbClr val="FFFFFF"/>
                    </a:solidFill>
                    <a:latin typeface="Inter"/>
                    <a:ea typeface="Inter"/>
                    <a:cs typeface="Inter"/>
                    <a:sym typeface="Inter"/>
                  </a:endParaRPr>
                </a:p>
              </p:txBody>
            </p:sp>
          </p:grpSp>
          <p:pic>
            <p:nvPicPr>
              <p:cNvPr id="532" name="Google Shape;532;p23"/>
              <p:cNvPicPr preferRelativeResize="0"/>
              <p:nvPr/>
            </p:nvPicPr>
            <p:blipFill rotWithShape="1">
              <a:blip r:embed="rId8">
                <a:alphaModFix/>
              </a:blip>
              <a:srcRect b="0" l="0" r="0" t="0"/>
              <a:stretch/>
            </p:blipFill>
            <p:spPr>
              <a:xfrm>
                <a:off x="1514475" y="133350"/>
                <a:ext cx="162000" cy="114300"/>
              </a:xfrm>
              <a:prstGeom prst="rect">
                <a:avLst/>
              </a:prstGeom>
              <a:noFill/>
              <a:ln>
                <a:noFill/>
              </a:ln>
            </p:spPr>
          </p:pic>
          <p:grpSp>
            <p:nvGrpSpPr>
              <p:cNvPr id="533" name="Google Shape;533;p23"/>
              <p:cNvGrpSpPr/>
              <p:nvPr/>
            </p:nvGrpSpPr>
            <p:grpSpPr>
              <a:xfrm>
                <a:off x="1809750" y="0"/>
                <a:ext cx="1333500" cy="514350"/>
                <a:chOff x="0" y="0"/>
                <a:chExt cx="1333500" cy="514350"/>
              </a:xfrm>
            </p:grpSpPr>
            <p:sp>
              <p:nvSpPr>
                <p:cNvPr id="534" name="Google Shape;534;p23"/>
                <p:cNvSpPr txBox="1"/>
                <p:nvPr/>
              </p:nvSpPr>
              <p:spPr>
                <a:xfrm>
                  <a:off x="0" y="0"/>
                  <a:ext cx="1333500" cy="3048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lang="en" sz="1943">
                      <a:solidFill>
                        <a:srgbClr val="FFFFFF"/>
                      </a:solidFill>
                      <a:latin typeface="Inter ExtraBold"/>
                      <a:ea typeface="Inter ExtraBold"/>
                      <a:cs typeface="Inter ExtraBold"/>
                      <a:sym typeface="Inter ExtraBold"/>
                    </a:rPr>
                    <a:t>~6 h</a:t>
                  </a:r>
                  <a:endParaRPr b="0" sz="1943">
                    <a:solidFill>
                      <a:srgbClr val="FFFFFF"/>
                    </a:solidFill>
                    <a:latin typeface="Inter ExtraBold"/>
                    <a:ea typeface="Inter ExtraBold"/>
                    <a:cs typeface="Inter ExtraBold"/>
                    <a:sym typeface="Inter ExtraBold"/>
                  </a:endParaRPr>
                </a:p>
              </p:txBody>
            </p:sp>
            <p:sp>
              <p:nvSpPr>
                <p:cNvPr id="535" name="Google Shape;535;p23"/>
                <p:cNvSpPr txBox="1"/>
                <p:nvPr/>
              </p:nvSpPr>
              <p:spPr>
                <a:xfrm>
                  <a:off x="0" y="323850"/>
                  <a:ext cx="1333500" cy="1905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lang="en" sz="825">
                      <a:solidFill>
                        <a:srgbClr val="FFFFFF"/>
                      </a:solidFill>
                      <a:latin typeface="Inter"/>
                      <a:ea typeface="Inter"/>
                      <a:cs typeface="Inter"/>
                      <a:sym typeface="Inter"/>
                    </a:rPr>
                    <a:t>Review per month</a:t>
                  </a:r>
                  <a:endParaRPr b="0" sz="825">
                    <a:solidFill>
                      <a:srgbClr val="FFFFFF"/>
                    </a:solidFill>
                    <a:latin typeface="Inter"/>
                    <a:ea typeface="Inter"/>
                    <a:cs typeface="Inter"/>
                    <a:sym typeface="Inter"/>
                  </a:endParaRPr>
                </a:p>
              </p:txBody>
            </p:sp>
          </p:grpSp>
        </p:grpSp>
      </p:grpSp>
      <p:sp>
        <p:nvSpPr>
          <p:cNvPr id="536" name="TextBox 535"/>
          <p:cNvSpPr txBox="1"/>
          <p:nvPr/>
        </p:nvSpPr>
        <p:spPr>
          <a:xfrm>
            <a:off x="457200" y="4700000"/>
            <a:ext cx="82296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FFFFFF"/>
                </a:solidFill>
                <a:latin typeface="Inter"/>
              </a:rPr>
              <a:t>▶ Demo video  ·  lili-hr-agent.vercel.app  ·  github.com/laila2005/recruitment-agent-wesam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